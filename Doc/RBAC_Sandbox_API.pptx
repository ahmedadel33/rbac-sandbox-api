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Introduces the topic and the tools used.
Script: "Hello everyone. Today I will present the first task of the project: building a secure API that controls who can see which project, based on the user's role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project solves the problem of controlling access to project data across roles, through five core requirements.
Script: "In any company, a general manager does not see what an employee sees. This project builds the software foundation for that. The task rests on five pillars: who are you, what are you allowed to do, what do you see, how do we handle errors, and how do we protect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Clear layers separate authentication, permissions and data logic; the middleware distinguishes 401 from 403.
Script: "Each request first passes through middleware that verifies identity, then role, and only then reaches the project logic. The difference matters: 401 means I do not know who you are, and 403 means I know you but you are not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Roles and permissions live in one RBAC service, and one filter builds the query condition from the role.
Script: "Roles and default permissions are defined in a single place. Then, instead of fetching every project and filtering in memory, we build the query condition from the role: less leakage and better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Every failure case has a proper HTTP status and a clear message.
Script: "A good API does not only work on the happy path. We defined clear behaviour for every failure type so the consumer knows exactly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Tests prove the security rules work and protect against future regressions.
Script: "In permission systems, negative tests matter more than positive ones. It is not enough to show that what is allowed works; we must show that what is forbidden is really forbidden."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Four flows show the success path, role-based differences and denial cases.
Script: "Same endpoint, same request, but the result depends on who the user is. Any unauthorized attempt is rejected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Most problems were small details, not the core idea. The result is a secure, tested and extensible foundation.
Script: "Most bugs were not complex: Admin is not equal to admin, and the JWT secret was not read correctly in the test environment. The tests exposed these early. In the end, access is impossible without identity and role, adding a role does not require rewriting logic, and the tests protect us from future mistakes."
Full conclusion: In this task we built a secure Sandbox API that enforces role-based access control. Protection starts by verifying the user's identity through a JWT stored in a secure cookie. The authorize middleware then checks the user's role, and a project filter builds a query that defines what each user can see: Admin sees everything, Manager sees their department, and Viewer sees only assigned projects. Every failure case (missing or invalid token, unauthorized role, missing fields, duplicates, database errors) returns a clear HTTP status and message. All of this is verified with automated tests using Jest and Supertest. The result is a solid, extensible foundation for the rest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0"/>
        </a:solidFill>
      </p:bgPr>
    </p:bg>
    <p:spTree>
      <p:nvGrpSpPr>
        <p:cNvPr id="1" name=""/>
        <p:cNvGrpSpPr/>
        <p:nvPr/>
      </p:nvGrpSpPr>
      <p:grpSpPr>
        <a:xfrm>
          <a:off x="0" y="0"/>
          <a:ext cx="0" cy="0"/>
          <a:chOff x="0" y="0"/>
          <a:chExt cx="0" cy="0"/>
        </a:xfrm>
      </p:grpSpPr>
      <p:sp>
        <p:nvSpPr>
          <p:cNvPr id="2" name="Shape 0"/>
          <p:cNvSpPr/>
          <p:nvPr/>
        </p:nvSpPr>
        <p:spPr>
          <a:xfrm>
            <a:off x="640080" y="731520"/>
            <a:ext cx="914400" cy="914400"/>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868680" y="960120"/>
            <a:ext cx="457200" cy="457200"/>
          </a:xfrm>
          <a:prstGeom prst="rect">
            <a:avLst/>
          </a:prstGeom>
        </p:spPr>
      </p:pic>
      <p:sp>
        <p:nvSpPr>
          <p:cNvPr id="4" name="Text 1"/>
          <p:cNvSpPr txBox="1"/>
          <p:nvPr/>
        </p:nvSpPr>
        <p:spPr>
          <a:xfrm>
            <a:off x="1783080" y="960120"/>
            <a:ext cx="5486400" cy="45720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F2A93B"/>
                </a:solidFill>
                <a:latin typeface="Arial" pitchFamily="34" charset="0"/>
                <a:ea typeface="Arial" pitchFamily="34" charset="-122"/>
                <a:cs typeface="Arial" pitchFamily="34" charset="-120"/>
              </a:rPr>
              <a:t>TASK 1  ·  TECHNICAL DEMO</a:t>
            </a:r>
            <a:endParaRPr lang="en-US" sz="1300" dirty="0"/>
          </a:p>
        </p:txBody>
      </p:sp>
      <p:sp>
        <p:nvSpPr>
          <p:cNvPr id="5" name="Text 2"/>
          <p:cNvSpPr txBox="1"/>
          <p:nvPr/>
        </p:nvSpPr>
        <p:spPr>
          <a:xfrm>
            <a:off x="640080" y="2011680"/>
            <a:ext cx="7863840" cy="1234440"/>
          </a:xfrm>
          <a:prstGeom prst="rect">
            <a:avLst/>
          </a:prstGeom>
          <a:noFill/>
          <a:ln/>
        </p:spPr>
        <p:txBody>
          <a:bodyPr wrap="square" lIns="0" tIns="0" rIns="0" bIns="0" rtlCol="0" anchor="t"/>
          <a:lstStyle/>
          <a:p>
            <a:pPr algn="l" indent="0" marL="0">
              <a:lnSpc>
                <a:spcPct val="100000"/>
              </a:lnSpc>
              <a:buNone/>
            </a:pPr>
            <a:r>
              <a:rPr lang="en-US" altLang="en-US" sz="3400" b="1" dirty="0">
                <a:solidFill>
                  <a:srgbClr val="FFFFFF"/>
                </a:solidFill>
                <a:latin typeface="Arial" pitchFamily="34" charset="0"/>
                <a:ea typeface="Arial" pitchFamily="34" charset="-122"/>
                <a:cs typeface="Arial" pitchFamily="34" charset="-120"/>
              </a:rPr>
              <a:t>Sandbox API with Role-Based Access Control (RBAC)</a:t>
            </a:r>
            <a:endParaRPr lang="en-US" sz="3400" dirty="0"/>
          </a:p>
        </p:txBody>
      </p:sp>
      <p:sp>
        <p:nvSpPr>
          <p:cNvPr id="6" name="Text 3"/>
          <p:cNvSpPr txBox="1"/>
          <p:nvPr/>
        </p:nvSpPr>
        <p:spPr>
          <a:xfrm>
            <a:off x="640080" y="3337560"/>
            <a:ext cx="7863840" cy="365760"/>
          </a:xfrm>
          <a:prstGeom prst="rect">
            <a:avLst/>
          </a:prstGeom>
          <a:noFill/>
          <a:ln/>
        </p:spPr>
        <p:txBody>
          <a:bodyPr wrap="square" lIns="0" tIns="0" rIns="0" bIns="0" rtlCol="0" anchor="t"/>
          <a:lstStyle/>
          <a:p>
            <a:pPr algn="l" indent="0" marL="0">
              <a:lnSpc>
                <a:spcPct val="100000"/>
              </a:lnSpc>
              <a:buNone/>
            </a:pPr>
            <a:r>
              <a:rPr lang="en-US" altLang="en-US" sz="1600" dirty="0">
                <a:solidFill>
                  <a:srgbClr val="CADCE0"/>
                </a:solidFill>
                <a:latin typeface="Arial" pitchFamily="34" charset="0"/>
                <a:ea typeface="Arial" pitchFamily="34" charset="-122"/>
                <a:cs typeface="Arial" pitchFamily="34" charset="-120"/>
              </a:rPr>
              <a:t>Authentication, authorization and role-based project visibility</a:t>
            </a:r>
            <a:endParaRPr lang="en-US" sz="1600" dirty="0"/>
          </a:p>
        </p:txBody>
      </p:sp>
      <p:sp>
        <p:nvSpPr>
          <p:cNvPr id="7" name="Shape 4"/>
          <p:cNvSpPr/>
          <p:nvPr/>
        </p:nvSpPr>
        <p:spPr>
          <a:xfrm>
            <a:off x="640080" y="4069080"/>
            <a:ext cx="1325880" cy="384048"/>
          </a:xfrm>
          <a:prstGeom prst="roundRect">
            <a:avLst>
              <a:gd name="adj" fmla="val 47619"/>
            </a:avLst>
          </a:prstGeom>
          <a:solidFill>
            <a:srgbClr val="1D3B4D"/>
          </a:solidFill>
          <a:ln w="12700">
            <a:solidFill>
              <a:srgbClr val="1D3B4D"/>
            </a:solidFill>
            <a:prstDash val="solid"/>
          </a:ln>
        </p:spPr>
      </p:sp>
      <p:sp>
        <p:nvSpPr>
          <p:cNvPr id="8" name="Text 5"/>
          <p:cNvSpPr txBox="1"/>
          <p:nvPr/>
        </p:nvSpPr>
        <p:spPr>
          <a:xfrm>
            <a:off x="640080" y="4069080"/>
            <a:ext cx="1325880" cy="384048"/>
          </a:xfrm>
          <a:prstGeom prst="rect">
            <a:avLst/>
          </a:prstGeom>
          <a:noFill/>
          <a:ln/>
        </p:spPr>
        <p:txBody>
          <a:bodyPr wrap="square" lIns="0" tIns="0" rIns="0" bIns="0" rtlCol="0" anchor="ctr"/>
          <a:lstStyle/>
          <a:p>
            <a:pPr algn="ctr" indent="0" marL="0">
              <a:lnSpc>
                <a:spcPct val="100000"/>
              </a:lnSpc>
              <a:buNone/>
            </a:pPr>
            <a:r>
              <a:rPr lang="en-US" altLang="en-US" sz="1200" dirty="0">
                <a:solidFill>
                  <a:srgbClr val="FFFFFF"/>
                </a:solidFill>
                <a:latin typeface="Arial" pitchFamily="34" charset="0"/>
                <a:ea typeface="Arial" pitchFamily="34" charset="-122"/>
                <a:cs typeface="Arial" pitchFamily="34" charset="-120"/>
              </a:rPr>
              <a:t>Express.js</a:t>
            </a:r>
            <a:endParaRPr lang="en-US" sz="1200" dirty="0"/>
          </a:p>
        </p:txBody>
      </p:sp>
      <p:sp>
        <p:nvSpPr>
          <p:cNvPr id="9" name="Shape 6"/>
          <p:cNvSpPr/>
          <p:nvPr/>
        </p:nvSpPr>
        <p:spPr>
          <a:xfrm>
            <a:off x="2148840" y="4069080"/>
            <a:ext cx="1188720" cy="384048"/>
          </a:xfrm>
          <a:prstGeom prst="roundRect">
            <a:avLst>
              <a:gd name="adj" fmla="val 47619"/>
            </a:avLst>
          </a:prstGeom>
          <a:solidFill>
            <a:srgbClr val="1D3B4D"/>
          </a:solidFill>
          <a:ln w="12700">
            <a:solidFill>
              <a:srgbClr val="1D3B4D"/>
            </a:solidFill>
            <a:prstDash val="solid"/>
          </a:ln>
        </p:spPr>
      </p:sp>
      <p:sp>
        <p:nvSpPr>
          <p:cNvPr id="10" name="Text 7"/>
          <p:cNvSpPr txBox="1"/>
          <p:nvPr/>
        </p:nvSpPr>
        <p:spPr>
          <a:xfrm>
            <a:off x="2148840" y="4069080"/>
            <a:ext cx="1188720" cy="384048"/>
          </a:xfrm>
          <a:prstGeom prst="rect">
            <a:avLst/>
          </a:prstGeom>
          <a:noFill/>
          <a:ln/>
        </p:spPr>
        <p:txBody>
          <a:bodyPr wrap="square" lIns="0" tIns="0" rIns="0" bIns="0" rtlCol="0" anchor="ctr"/>
          <a:lstStyle/>
          <a:p>
            <a:pPr algn="ctr" indent="0" marL="0">
              <a:lnSpc>
                <a:spcPct val="100000"/>
              </a:lnSpc>
              <a:buNone/>
            </a:pPr>
            <a:r>
              <a:rPr lang="en-US" altLang="en-US" sz="1200" dirty="0">
                <a:solidFill>
                  <a:srgbClr val="FFFFFF"/>
                </a:solidFill>
                <a:latin typeface="Arial" pitchFamily="34" charset="0"/>
                <a:ea typeface="Arial" pitchFamily="34" charset="-122"/>
                <a:cs typeface="Arial" pitchFamily="34" charset="-120"/>
              </a:rPr>
              <a:t>MongoDB</a:t>
            </a:r>
            <a:endParaRPr lang="en-US" sz="1200" dirty="0"/>
          </a:p>
        </p:txBody>
      </p:sp>
      <p:sp>
        <p:nvSpPr>
          <p:cNvPr id="11" name="Shape 8"/>
          <p:cNvSpPr/>
          <p:nvPr/>
        </p:nvSpPr>
        <p:spPr>
          <a:xfrm>
            <a:off x="3520440" y="4069080"/>
            <a:ext cx="822960" cy="384048"/>
          </a:xfrm>
          <a:prstGeom prst="roundRect">
            <a:avLst>
              <a:gd name="adj" fmla="val 47619"/>
            </a:avLst>
          </a:prstGeom>
          <a:solidFill>
            <a:srgbClr val="1D3B4D"/>
          </a:solidFill>
          <a:ln w="12700">
            <a:solidFill>
              <a:srgbClr val="1D3B4D"/>
            </a:solidFill>
            <a:prstDash val="solid"/>
          </a:ln>
        </p:spPr>
      </p:sp>
      <p:sp>
        <p:nvSpPr>
          <p:cNvPr id="12" name="Text 9"/>
          <p:cNvSpPr txBox="1"/>
          <p:nvPr/>
        </p:nvSpPr>
        <p:spPr>
          <a:xfrm>
            <a:off x="3520440" y="4069080"/>
            <a:ext cx="822960" cy="384048"/>
          </a:xfrm>
          <a:prstGeom prst="rect">
            <a:avLst/>
          </a:prstGeom>
          <a:noFill/>
          <a:ln/>
        </p:spPr>
        <p:txBody>
          <a:bodyPr wrap="square" lIns="0" tIns="0" rIns="0" bIns="0" rtlCol="0" anchor="ctr"/>
          <a:lstStyle/>
          <a:p>
            <a:pPr algn="ctr" indent="0" marL="0">
              <a:lnSpc>
                <a:spcPct val="100000"/>
              </a:lnSpc>
              <a:buNone/>
            </a:pPr>
            <a:r>
              <a:rPr lang="en-US" altLang="en-US" sz="1200" dirty="0">
                <a:solidFill>
                  <a:srgbClr val="FFFFFF"/>
                </a:solidFill>
                <a:latin typeface="Arial" pitchFamily="34" charset="0"/>
                <a:ea typeface="Arial" pitchFamily="34" charset="-122"/>
                <a:cs typeface="Arial" pitchFamily="34" charset="-120"/>
              </a:rPr>
              <a:t>JWT</a:t>
            </a:r>
            <a:endParaRPr lang="en-US" sz="1200" dirty="0"/>
          </a:p>
        </p:txBody>
      </p:sp>
      <p:sp>
        <p:nvSpPr>
          <p:cNvPr id="13" name="Shape 10"/>
          <p:cNvSpPr/>
          <p:nvPr/>
        </p:nvSpPr>
        <p:spPr>
          <a:xfrm>
            <a:off x="4526280" y="4069080"/>
            <a:ext cx="1737360" cy="384048"/>
          </a:xfrm>
          <a:prstGeom prst="roundRect">
            <a:avLst>
              <a:gd name="adj" fmla="val 47619"/>
            </a:avLst>
          </a:prstGeom>
          <a:solidFill>
            <a:srgbClr val="1D3B4D"/>
          </a:solidFill>
          <a:ln w="12700">
            <a:solidFill>
              <a:srgbClr val="1D3B4D"/>
            </a:solidFill>
            <a:prstDash val="solid"/>
          </a:ln>
        </p:spPr>
      </p:sp>
      <p:sp>
        <p:nvSpPr>
          <p:cNvPr id="14" name="Text 11"/>
          <p:cNvSpPr txBox="1"/>
          <p:nvPr/>
        </p:nvSpPr>
        <p:spPr>
          <a:xfrm>
            <a:off x="4526280" y="4069080"/>
            <a:ext cx="1737360" cy="384048"/>
          </a:xfrm>
          <a:prstGeom prst="rect">
            <a:avLst/>
          </a:prstGeom>
          <a:noFill/>
          <a:ln/>
        </p:spPr>
        <p:txBody>
          <a:bodyPr wrap="square" lIns="0" tIns="0" rIns="0" bIns="0" rtlCol="0" anchor="ctr"/>
          <a:lstStyle/>
          <a:p>
            <a:pPr algn="ctr" indent="0" marL="0">
              <a:lnSpc>
                <a:spcPct val="100000"/>
              </a:lnSpc>
              <a:buNone/>
            </a:pPr>
            <a:r>
              <a:rPr lang="en-US" altLang="en-US" sz="1200" dirty="0">
                <a:solidFill>
                  <a:srgbClr val="FFFFFF"/>
                </a:solidFill>
                <a:latin typeface="Arial" pitchFamily="34" charset="0"/>
                <a:ea typeface="Arial" pitchFamily="34" charset="-122"/>
                <a:cs typeface="Arial" pitchFamily="34" charset="-120"/>
              </a:rPr>
              <a:t>Jest &amp; Supertest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Project Overview &amp; Requirements</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2 / 8</a:t>
            </a:r>
            <a:endParaRPr lang="en-US" sz="900" dirty="0"/>
          </a:p>
        </p:txBody>
      </p:sp>
      <p:sp>
        <p:nvSpPr>
          <p:cNvPr id="7" name="Shape 3"/>
          <p:cNvSpPr/>
          <p:nvPr/>
        </p:nvSpPr>
        <p:spPr>
          <a:xfrm>
            <a:off x="457200" y="1170432"/>
            <a:ext cx="3429000" cy="1033272"/>
          </a:xfrm>
          <a:prstGeom prst="roundRect">
            <a:avLst>
              <a:gd name="adj" fmla="val 885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Shape 4"/>
          <p:cNvSpPr/>
          <p:nvPr/>
        </p:nvSpPr>
        <p:spPr>
          <a:xfrm>
            <a:off x="594360" y="1298448"/>
            <a:ext cx="411480" cy="411480"/>
          </a:xfrm>
          <a:prstGeom prst="ellipse">
            <a:avLst/>
          </a:prstGeom>
          <a:solidFill>
            <a:srgbClr val="1B9C8C"/>
          </a:solidFill>
          <a:ln w="12700">
            <a:solidFill>
              <a:srgbClr val="1B9C8C"/>
            </a:solidFill>
            <a:prstDash val="solid"/>
          </a:ln>
        </p:spPr>
      </p:sp>
      <p:pic>
        <p:nvPicPr>
          <p:cNvPr id="9" name="Image 1" descr="preencoded.png">    </p:cNvPr>
          <p:cNvPicPr>
            <a:picLocks noChangeAspect="1"/>
          </p:cNvPicPr>
          <p:nvPr/>
        </p:nvPicPr>
        <p:blipFill>
          <a:blip r:embed="rId2"/>
          <a:stretch>
            <a:fillRect/>
          </a:stretch>
        </p:blipFill>
        <p:spPr>
          <a:xfrm>
            <a:off x="697230" y="1401318"/>
            <a:ext cx="205740" cy="205740"/>
          </a:xfrm>
          <a:prstGeom prst="rect">
            <a:avLst/>
          </a:prstGeom>
        </p:spPr>
      </p:pic>
      <p:sp>
        <p:nvSpPr>
          <p:cNvPr id="10" name="Text 5"/>
          <p:cNvSpPr txBox="1"/>
          <p:nvPr/>
        </p:nvSpPr>
        <p:spPr>
          <a:xfrm>
            <a:off x="1143000" y="1298448"/>
            <a:ext cx="2606040" cy="41148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What is it?</a:t>
            </a:r>
            <a:endParaRPr lang="en-US" sz="1300" dirty="0"/>
          </a:p>
        </p:txBody>
      </p:sp>
      <p:sp>
        <p:nvSpPr>
          <p:cNvPr id="11" name="Text 6"/>
          <p:cNvSpPr txBox="1"/>
          <p:nvPr/>
        </p:nvSpPr>
        <p:spPr>
          <a:xfrm>
            <a:off x="594360" y="1764792"/>
            <a:ext cx="3154680" cy="41148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A project-management Sandbox API for building and testing access-control logic safely.</a:t>
            </a:r>
            <a:endParaRPr lang="en-US" sz="1000" dirty="0"/>
          </a:p>
        </p:txBody>
      </p:sp>
      <p:sp>
        <p:nvSpPr>
          <p:cNvPr id="12" name="Shape 7"/>
          <p:cNvSpPr/>
          <p:nvPr/>
        </p:nvSpPr>
        <p:spPr>
          <a:xfrm>
            <a:off x="457200" y="2313432"/>
            <a:ext cx="3429000" cy="1033272"/>
          </a:xfrm>
          <a:prstGeom prst="roundRect">
            <a:avLst>
              <a:gd name="adj" fmla="val 885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Shape 8"/>
          <p:cNvSpPr/>
          <p:nvPr/>
        </p:nvSpPr>
        <p:spPr>
          <a:xfrm>
            <a:off x="594360" y="2441448"/>
            <a:ext cx="411480" cy="411480"/>
          </a:xfrm>
          <a:prstGeom prst="ellipse">
            <a:avLst/>
          </a:prstGeom>
          <a:solidFill>
            <a:srgbClr val="1B9C8C"/>
          </a:solidFill>
          <a:ln w="12700">
            <a:solidFill>
              <a:srgbClr val="1B9C8C"/>
            </a:solidFill>
            <a:prstDash val="solid"/>
          </a:ln>
        </p:spPr>
      </p:sp>
      <p:pic>
        <p:nvPicPr>
          <p:cNvPr id="14" name="Image 2" descr="preencoded.png">    </p:cNvPr>
          <p:cNvPicPr>
            <a:picLocks noChangeAspect="1"/>
          </p:cNvPicPr>
          <p:nvPr/>
        </p:nvPicPr>
        <p:blipFill>
          <a:blip r:embed="rId3"/>
          <a:stretch>
            <a:fillRect/>
          </a:stretch>
        </p:blipFill>
        <p:spPr>
          <a:xfrm>
            <a:off x="697230" y="2544318"/>
            <a:ext cx="205740" cy="205740"/>
          </a:xfrm>
          <a:prstGeom prst="rect">
            <a:avLst/>
          </a:prstGeom>
        </p:spPr>
      </p:pic>
      <p:sp>
        <p:nvSpPr>
          <p:cNvPr id="15" name="Text 9"/>
          <p:cNvSpPr txBox="1"/>
          <p:nvPr/>
        </p:nvSpPr>
        <p:spPr>
          <a:xfrm>
            <a:off x="1143000" y="2441448"/>
            <a:ext cx="2606040" cy="41148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Why was it created?</a:t>
            </a:r>
            <a:endParaRPr lang="en-US" sz="1300" dirty="0"/>
          </a:p>
        </p:txBody>
      </p:sp>
      <p:sp>
        <p:nvSpPr>
          <p:cNvPr id="16" name="Text 10"/>
          <p:cNvSpPr txBox="1"/>
          <p:nvPr/>
        </p:nvSpPr>
        <p:spPr>
          <a:xfrm>
            <a:off x="594360" y="2907792"/>
            <a:ext cx="3154680" cy="41148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Multi-user systems must separate what each user sees. The sandbox proves the rules first.</a:t>
            </a:r>
            <a:endParaRPr lang="en-US" sz="1000" dirty="0"/>
          </a:p>
        </p:txBody>
      </p:sp>
      <p:sp>
        <p:nvSpPr>
          <p:cNvPr id="17" name="Shape 11"/>
          <p:cNvSpPr/>
          <p:nvPr/>
        </p:nvSpPr>
        <p:spPr>
          <a:xfrm>
            <a:off x="457200" y="3456432"/>
            <a:ext cx="3429000" cy="1033272"/>
          </a:xfrm>
          <a:prstGeom prst="roundRect">
            <a:avLst>
              <a:gd name="adj" fmla="val 8850"/>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8" name="Shape 12"/>
          <p:cNvSpPr/>
          <p:nvPr/>
        </p:nvSpPr>
        <p:spPr>
          <a:xfrm>
            <a:off x="594360" y="3584448"/>
            <a:ext cx="411480" cy="411480"/>
          </a:xfrm>
          <a:prstGeom prst="ellipse">
            <a:avLst/>
          </a:prstGeom>
          <a:solidFill>
            <a:srgbClr val="C8553D"/>
          </a:solidFill>
          <a:ln w="12700">
            <a:solidFill>
              <a:srgbClr val="C8553D"/>
            </a:solidFill>
            <a:prstDash val="solid"/>
          </a:ln>
        </p:spPr>
      </p:sp>
      <p:pic>
        <p:nvPicPr>
          <p:cNvPr id="19" name="Image 3" descr="preencoded.png">    </p:cNvPr>
          <p:cNvPicPr>
            <a:picLocks noChangeAspect="1"/>
          </p:cNvPicPr>
          <p:nvPr/>
        </p:nvPicPr>
        <p:blipFill>
          <a:blip r:embed="rId4"/>
          <a:stretch>
            <a:fillRect/>
          </a:stretch>
        </p:blipFill>
        <p:spPr>
          <a:xfrm>
            <a:off x="697230" y="3687318"/>
            <a:ext cx="205740" cy="205740"/>
          </a:xfrm>
          <a:prstGeom prst="rect">
            <a:avLst/>
          </a:prstGeom>
        </p:spPr>
      </p:pic>
      <p:sp>
        <p:nvSpPr>
          <p:cNvPr id="20" name="Text 13"/>
          <p:cNvSpPr txBox="1"/>
          <p:nvPr/>
        </p:nvSpPr>
        <p:spPr>
          <a:xfrm>
            <a:off x="1143000" y="3584448"/>
            <a:ext cx="2606040" cy="41148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Business problem</a:t>
            </a:r>
            <a:endParaRPr lang="en-US" sz="1300" dirty="0"/>
          </a:p>
        </p:txBody>
      </p:sp>
      <p:sp>
        <p:nvSpPr>
          <p:cNvPr id="21" name="Text 14"/>
          <p:cNvSpPr txBox="1"/>
          <p:nvPr/>
        </p:nvSpPr>
        <p:spPr>
          <a:xfrm>
            <a:off x="594360" y="4050792"/>
            <a:ext cx="3154680" cy="41148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Different roles share the same data. Exposing a project to the wrong person is a security risk.</a:t>
            </a:r>
            <a:endParaRPr lang="en-US" sz="1000" dirty="0"/>
          </a:p>
        </p:txBody>
      </p:sp>
      <p:sp>
        <p:nvSpPr>
          <p:cNvPr id="22" name="Shape 15"/>
          <p:cNvSpPr/>
          <p:nvPr/>
        </p:nvSpPr>
        <p:spPr>
          <a:xfrm>
            <a:off x="4069080" y="1170432"/>
            <a:ext cx="461772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3" name="Shape 16"/>
          <p:cNvSpPr/>
          <p:nvPr/>
        </p:nvSpPr>
        <p:spPr>
          <a:xfrm>
            <a:off x="4206240" y="1266444"/>
            <a:ext cx="402336" cy="402336"/>
          </a:xfrm>
          <a:prstGeom prst="ellipse">
            <a:avLst/>
          </a:prstGeom>
          <a:solidFill>
            <a:srgbClr val="1B9C8C"/>
          </a:solidFill>
          <a:ln w="12700">
            <a:solidFill>
              <a:srgbClr val="1B9C8C"/>
            </a:solidFill>
            <a:prstDash val="solid"/>
          </a:ln>
        </p:spPr>
      </p:sp>
      <p:pic>
        <p:nvPicPr>
          <p:cNvPr id="24" name="Image 4" descr="preencoded.png">    </p:cNvPr>
          <p:cNvPicPr>
            <a:picLocks noChangeAspect="1"/>
          </p:cNvPicPr>
          <p:nvPr/>
        </p:nvPicPr>
        <p:blipFill>
          <a:blip r:embed="rId5"/>
          <a:stretch>
            <a:fillRect/>
          </a:stretch>
        </p:blipFill>
        <p:spPr>
          <a:xfrm>
            <a:off x="4306824" y="1367028"/>
            <a:ext cx="201168" cy="201168"/>
          </a:xfrm>
          <a:prstGeom prst="rect">
            <a:avLst/>
          </a:prstGeom>
        </p:spPr>
      </p:pic>
      <p:sp>
        <p:nvSpPr>
          <p:cNvPr id="25" name="Text 17"/>
          <p:cNvSpPr txBox="1"/>
          <p:nvPr/>
        </p:nvSpPr>
        <p:spPr>
          <a:xfrm>
            <a:off x="4754880" y="1170432"/>
            <a:ext cx="1783080" cy="59436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Authentication &amp; Authorization</a:t>
            </a:r>
            <a:endParaRPr lang="en-US" sz="1300" dirty="0"/>
          </a:p>
        </p:txBody>
      </p:sp>
      <p:sp>
        <p:nvSpPr>
          <p:cNvPr id="26" name="Text 18"/>
          <p:cNvSpPr txBox="1"/>
          <p:nvPr/>
        </p:nvSpPr>
        <p:spPr>
          <a:xfrm>
            <a:off x="6675120" y="1170432"/>
            <a:ext cx="1874520" cy="594360"/>
          </a:xfrm>
          <a:prstGeom prst="rect">
            <a:avLst/>
          </a:prstGeom>
          <a:noFill/>
          <a:ln/>
        </p:spPr>
        <p:txBody>
          <a:bodyPr wrap="square" lIns="0" tIns="0" rIns="0" bIns="0" rtlCol="0" anchor="ctr"/>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Register, log in, verify identity</a:t>
            </a:r>
            <a:endParaRPr lang="en-US" sz="1100" dirty="0"/>
          </a:p>
        </p:txBody>
      </p:sp>
      <p:sp>
        <p:nvSpPr>
          <p:cNvPr id="27" name="Shape 19"/>
          <p:cNvSpPr/>
          <p:nvPr/>
        </p:nvSpPr>
        <p:spPr>
          <a:xfrm>
            <a:off x="4069080" y="1856232"/>
            <a:ext cx="461772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8" name="Shape 20"/>
          <p:cNvSpPr/>
          <p:nvPr/>
        </p:nvSpPr>
        <p:spPr>
          <a:xfrm>
            <a:off x="4206240" y="1952244"/>
            <a:ext cx="402336" cy="402336"/>
          </a:xfrm>
          <a:prstGeom prst="ellipse">
            <a:avLst/>
          </a:prstGeom>
          <a:solidFill>
            <a:srgbClr val="1B9C8C"/>
          </a:solidFill>
          <a:ln w="12700">
            <a:solidFill>
              <a:srgbClr val="1B9C8C"/>
            </a:solidFill>
            <a:prstDash val="solid"/>
          </a:ln>
        </p:spPr>
      </p:sp>
      <p:pic>
        <p:nvPicPr>
          <p:cNvPr id="29" name="Image 5" descr="preencoded.png">    </p:cNvPr>
          <p:cNvPicPr>
            <a:picLocks noChangeAspect="1"/>
          </p:cNvPicPr>
          <p:nvPr/>
        </p:nvPicPr>
        <p:blipFill>
          <a:blip r:embed="rId6"/>
          <a:stretch>
            <a:fillRect/>
          </a:stretch>
        </p:blipFill>
        <p:spPr>
          <a:xfrm>
            <a:off x="4306824" y="2052828"/>
            <a:ext cx="201168" cy="201168"/>
          </a:xfrm>
          <a:prstGeom prst="rect">
            <a:avLst/>
          </a:prstGeom>
        </p:spPr>
      </p:pic>
      <p:sp>
        <p:nvSpPr>
          <p:cNvPr id="30" name="Text 21"/>
          <p:cNvSpPr txBox="1"/>
          <p:nvPr/>
        </p:nvSpPr>
        <p:spPr>
          <a:xfrm>
            <a:off x="4754880" y="1856232"/>
            <a:ext cx="1783080" cy="59436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Role-Based Access Control</a:t>
            </a:r>
            <a:endParaRPr lang="en-US" sz="1300" dirty="0"/>
          </a:p>
        </p:txBody>
      </p:sp>
      <p:sp>
        <p:nvSpPr>
          <p:cNvPr id="31" name="Text 22"/>
          <p:cNvSpPr txBox="1"/>
          <p:nvPr/>
        </p:nvSpPr>
        <p:spPr>
          <a:xfrm>
            <a:off x="6675120" y="1856232"/>
            <a:ext cx="1874520" cy="594360"/>
          </a:xfrm>
          <a:prstGeom prst="rect">
            <a:avLst/>
          </a:prstGeom>
          <a:noFill/>
          <a:ln/>
        </p:spPr>
        <p:txBody>
          <a:bodyPr wrap="square" lIns="0" tIns="0" rIns="0" bIns="0" rtlCol="0" anchor="ctr"/>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Each role has a set of permissions</a:t>
            </a:r>
            <a:endParaRPr lang="en-US" sz="1100" dirty="0"/>
          </a:p>
        </p:txBody>
      </p:sp>
      <p:sp>
        <p:nvSpPr>
          <p:cNvPr id="32" name="Shape 23"/>
          <p:cNvSpPr/>
          <p:nvPr/>
        </p:nvSpPr>
        <p:spPr>
          <a:xfrm>
            <a:off x="4069080" y="2542032"/>
            <a:ext cx="461772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3" name="Shape 24"/>
          <p:cNvSpPr/>
          <p:nvPr/>
        </p:nvSpPr>
        <p:spPr>
          <a:xfrm>
            <a:off x="4206240" y="2638044"/>
            <a:ext cx="402336" cy="402336"/>
          </a:xfrm>
          <a:prstGeom prst="ellipse">
            <a:avLst/>
          </a:prstGeom>
          <a:solidFill>
            <a:srgbClr val="1B9C8C"/>
          </a:solidFill>
          <a:ln w="12700">
            <a:solidFill>
              <a:srgbClr val="1B9C8C"/>
            </a:solidFill>
            <a:prstDash val="solid"/>
          </a:ln>
        </p:spPr>
      </p:sp>
      <p:pic>
        <p:nvPicPr>
          <p:cNvPr id="34" name="Image 6" descr="preencoded.png">    </p:cNvPr>
          <p:cNvPicPr>
            <a:picLocks noChangeAspect="1"/>
          </p:cNvPicPr>
          <p:nvPr/>
        </p:nvPicPr>
        <p:blipFill>
          <a:blip r:embed="rId7"/>
          <a:stretch>
            <a:fillRect/>
          </a:stretch>
        </p:blipFill>
        <p:spPr>
          <a:xfrm>
            <a:off x="4306824" y="2738628"/>
            <a:ext cx="201168" cy="201168"/>
          </a:xfrm>
          <a:prstGeom prst="rect">
            <a:avLst/>
          </a:prstGeom>
        </p:spPr>
      </p:pic>
      <p:sp>
        <p:nvSpPr>
          <p:cNvPr id="35" name="Text 25"/>
          <p:cNvSpPr txBox="1"/>
          <p:nvPr/>
        </p:nvSpPr>
        <p:spPr>
          <a:xfrm>
            <a:off x="4754880" y="2542032"/>
            <a:ext cx="1783080" cy="59436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Project Visibility</a:t>
            </a:r>
            <a:endParaRPr lang="en-US" sz="1300" dirty="0"/>
          </a:p>
        </p:txBody>
      </p:sp>
      <p:sp>
        <p:nvSpPr>
          <p:cNvPr id="36" name="Text 26"/>
          <p:cNvSpPr txBox="1"/>
          <p:nvPr/>
        </p:nvSpPr>
        <p:spPr>
          <a:xfrm>
            <a:off x="6675120" y="2542032"/>
            <a:ext cx="1874520" cy="594360"/>
          </a:xfrm>
          <a:prstGeom prst="rect">
            <a:avLst/>
          </a:prstGeom>
          <a:noFill/>
          <a:ln/>
        </p:spPr>
        <p:txBody>
          <a:bodyPr wrap="square" lIns="0" tIns="0" rIns="0" bIns="0" rtlCol="0" anchor="ctr"/>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Users see only what their role allows</a:t>
            </a:r>
            <a:endParaRPr lang="en-US" sz="1100" dirty="0"/>
          </a:p>
        </p:txBody>
      </p:sp>
      <p:sp>
        <p:nvSpPr>
          <p:cNvPr id="37" name="Shape 27"/>
          <p:cNvSpPr/>
          <p:nvPr/>
        </p:nvSpPr>
        <p:spPr>
          <a:xfrm>
            <a:off x="4069080" y="3227832"/>
            <a:ext cx="461772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8" name="Shape 28"/>
          <p:cNvSpPr/>
          <p:nvPr/>
        </p:nvSpPr>
        <p:spPr>
          <a:xfrm>
            <a:off x="4206240" y="3323844"/>
            <a:ext cx="402336" cy="402336"/>
          </a:xfrm>
          <a:prstGeom prst="ellipse">
            <a:avLst/>
          </a:prstGeom>
          <a:solidFill>
            <a:srgbClr val="1B9C8C"/>
          </a:solidFill>
          <a:ln w="12700">
            <a:solidFill>
              <a:srgbClr val="1B9C8C"/>
            </a:solidFill>
            <a:prstDash val="solid"/>
          </a:ln>
        </p:spPr>
      </p:sp>
      <p:pic>
        <p:nvPicPr>
          <p:cNvPr id="39" name="Image 7" descr="preencoded.png">    </p:cNvPr>
          <p:cNvPicPr>
            <a:picLocks noChangeAspect="1"/>
          </p:cNvPicPr>
          <p:nvPr/>
        </p:nvPicPr>
        <p:blipFill>
          <a:blip r:embed="rId8"/>
          <a:stretch>
            <a:fillRect/>
          </a:stretch>
        </p:blipFill>
        <p:spPr>
          <a:xfrm>
            <a:off x="4306824" y="3424428"/>
            <a:ext cx="201168" cy="201168"/>
          </a:xfrm>
          <a:prstGeom prst="rect">
            <a:avLst/>
          </a:prstGeom>
        </p:spPr>
      </p:pic>
      <p:sp>
        <p:nvSpPr>
          <p:cNvPr id="40" name="Text 29"/>
          <p:cNvSpPr txBox="1"/>
          <p:nvPr/>
        </p:nvSpPr>
        <p:spPr>
          <a:xfrm>
            <a:off x="4754880" y="3227832"/>
            <a:ext cx="1783080" cy="59436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Validation &amp; Error Handling</a:t>
            </a:r>
            <a:endParaRPr lang="en-US" sz="1300" dirty="0"/>
          </a:p>
        </p:txBody>
      </p:sp>
      <p:sp>
        <p:nvSpPr>
          <p:cNvPr id="41" name="Text 30"/>
          <p:cNvSpPr txBox="1"/>
          <p:nvPr/>
        </p:nvSpPr>
        <p:spPr>
          <a:xfrm>
            <a:off x="6675120" y="3227832"/>
            <a:ext cx="1874520" cy="594360"/>
          </a:xfrm>
          <a:prstGeom prst="rect">
            <a:avLst/>
          </a:prstGeom>
          <a:noFill/>
          <a:ln/>
        </p:spPr>
        <p:txBody>
          <a:bodyPr wrap="square" lIns="0" tIns="0" rIns="0" bIns="0" rtlCol="0" anchor="ctr"/>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Reject bad input, return clear errors</a:t>
            </a:r>
            <a:endParaRPr lang="en-US" sz="1100" dirty="0"/>
          </a:p>
        </p:txBody>
      </p:sp>
      <p:sp>
        <p:nvSpPr>
          <p:cNvPr id="42" name="Shape 31"/>
          <p:cNvSpPr/>
          <p:nvPr/>
        </p:nvSpPr>
        <p:spPr>
          <a:xfrm>
            <a:off x="4069080" y="3913632"/>
            <a:ext cx="461772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43" name="Shape 32"/>
          <p:cNvSpPr/>
          <p:nvPr/>
        </p:nvSpPr>
        <p:spPr>
          <a:xfrm>
            <a:off x="4206240" y="4009644"/>
            <a:ext cx="402336" cy="402336"/>
          </a:xfrm>
          <a:prstGeom prst="ellipse">
            <a:avLst/>
          </a:prstGeom>
          <a:solidFill>
            <a:srgbClr val="1B9C8C"/>
          </a:solidFill>
          <a:ln w="12700">
            <a:solidFill>
              <a:srgbClr val="1B9C8C"/>
            </a:solidFill>
            <a:prstDash val="solid"/>
          </a:ln>
        </p:spPr>
      </p:sp>
      <p:pic>
        <p:nvPicPr>
          <p:cNvPr id="44" name="Image 8" descr="preencoded.png">    </p:cNvPr>
          <p:cNvPicPr>
            <a:picLocks noChangeAspect="1"/>
          </p:cNvPicPr>
          <p:nvPr/>
        </p:nvPicPr>
        <p:blipFill>
          <a:blip r:embed="rId9"/>
          <a:stretch>
            <a:fillRect/>
          </a:stretch>
        </p:blipFill>
        <p:spPr>
          <a:xfrm>
            <a:off x="4306824" y="4110228"/>
            <a:ext cx="201168" cy="201168"/>
          </a:xfrm>
          <a:prstGeom prst="rect">
            <a:avLst/>
          </a:prstGeom>
        </p:spPr>
      </p:pic>
      <p:sp>
        <p:nvSpPr>
          <p:cNvPr id="45" name="Text 33"/>
          <p:cNvSpPr txBox="1"/>
          <p:nvPr/>
        </p:nvSpPr>
        <p:spPr>
          <a:xfrm>
            <a:off x="4754880" y="3913632"/>
            <a:ext cx="1783080" cy="594360"/>
          </a:xfrm>
          <a:prstGeom prst="rect">
            <a:avLst/>
          </a:prstGeom>
          <a:noFill/>
          <a:ln/>
        </p:spPr>
        <p:txBody>
          <a:bodyPr wrap="square" lIns="0" tIns="0" rIns="0" bIns="0" rtlCol="0" anchor="ctr"/>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Secure Token Access</a:t>
            </a:r>
            <a:endParaRPr lang="en-US" sz="1300" dirty="0"/>
          </a:p>
        </p:txBody>
      </p:sp>
      <p:sp>
        <p:nvSpPr>
          <p:cNvPr id="46" name="Text 34"/>
          <p:cNvSpPr txBox="1"/>
          <p:nvPr/>
        </p:nvSpPr>
        <p:spPr>
          <a:xfrm>
            <a:off x="6675120" y="3913632"/>
            <a:ext cx="1874520" cy="594360"/>
          </a:xfrm>
          <a:prstGeom prst="rect">
            <a:avLst/>
          </a:prstGeom>
          <a:noFill/>
          <a:ln/>
        </p:spPr>
        <p:txBody>
          <a:bodyPr wrap="square" lIns="0" tIns="0" rIns="0" bIns="0" rtlCol="0" anchor="ctr"/>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JWT in an httpOnly cookie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Architecture &amp; Authentication</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3 / 8</a:t>
            </a:r>
            <a:endParaRPr lang="en-US" sz="900" dirty="0"/>
          </a:p>
        </p:txBody>
      </p:sp>
      <p:sp>
        <p:nvSpPr>
          <p:cNvPr id="7" name="Shape 3"/>
          <p:cNvSpPr/>
          <p:nvPr/>
        </p:nvSpPr>
        <p:spPr>
          <a:xfrm>
            <a:off x="457200" y="1170432"/>
            <a:ext cx="1371600" cy="868680"/>
          </a:xfrm>
          <a:prstGeom prst="roundRect">
            <a:avLst>
              <a:gd name="adj" fmla="val 10526"/>
            </a:avLst>
          </a:prstGeom>
          <a:solidFill>
            <a:srgbClr val="0E2230"/>
          </a:solidFill>
          <a:ln w="12700">
            <a:solidFill>
              <a:srgbClr val="0E2230"/>
            </a:solidFill>
            <a:prstDash val="solid"/>
          </a:ln>
          <a:effectLst>
            <a:outerShdw sx="100000" sy="100000" kx="0" ky="0" algn="bl" rotWithShape="0" blurRad="101600" dist="25400" dir="5400000">
              <a:srgbClr val="000000">
                <a:alpha val="10000"/>
              </a:srgbClr>
            </a:outerShdw>
          </a:effectLst>
        </p:spPr>
      </p:sp>
      <p:sp>
        <p:nvSpPr>
          <p:cNvPr id="8" name="Text 4"/>
          <p:cNvSpPr txBox="1"/>
          <p:nvPr/>
        </p:nvSpPr>
        <p:spPr>
          <a:xfrm>
            <a:off x="530352" y="1243584"/>
            <a:ext cx="1225296" cy="274320"/>
          </a:xfrm>
          <a:prstGeom prst="rect">
            <a:avLst/>
          </a:prstGeom>
          <a:noFill/>
          <a:ln/>
        </p:spPr>
        <p:txBody>
          <a:bodyPr wrap="square" lIns="0" tIns="0" rIns="0" bIns="0" rtlCol="0" anchor="ctr"/>
          <a:lstStyle/>
          <a:p>
            <a:pPr algn="ctr" indent="0" marL="0">
              <a:lnSpc>
                <a:spcPct val="100000"/>
              </a:lnSpc>
              <a:buNone/>
            </a:pPr>
            <a:r>
              <a:rPr lang="en-US" altLang="en-US" sz="1300" b="1" dirty="0">
                <a:solidFill>
                  <a:srgbClr val="FFFFFF"/>
                </a:solidFill>
                <a:latin typeface="Arial" pitchFamily="34" charset="0"/>
                <a:ea typeface="Arial" pitchFamily="34" charset="-122"/>
                <a:cs typeface="Arial" pitchFamily="34" charset="-120"/>
              </a:rPr>
              <a:t>Client</a:t>
            </a:r>
            <a:endParaRPr lang="en-US" sz="1300" dirty="0"/>
          </a:p>
        </p:txBody>
      </p:sp>
      <p:sp>
        <p:nvSpPr>
          <p:cNvPr id="9" name="Text 5"/>
          <p:cNvSpPr txBox="1"/>
          <p:nvPr/>
        </p:nvSpPr>
        <p:spPr>
          <a:xfrm>
            <a:off x="530352" y="1554480"/>
            <a:ext cx="1225296" cy="411480"/>
          </a:xfrm>
          <a:prstGeom prst="rect">
            <a:avLst/>
          </a:prstGeom>
          <a:noFill/>
          <a:ln/>
        </p:spPr>
        <p:txBody>
          <a:bodyPr wrap="square" lIns="0" tIns="0" rIns="0" bIns="0" rtlCol="0" anchor="t"/>
          <a:lstStyle/>
          <a:p>
            <a:pPr algn="ctr" indent="0" marL="0">
              <a:lnSpc>
                <a:spcPct val="100000"/>
              </a:lnSpc>
              <a:buNone/>
            </a:pPr>
            <a:r>
              <a:rPr lang="en-US" altLang="en-US" sz="950" dirty="0">
                <a:solidFill>
                  <a:srgbClr val="CADCE0"/>
                </a:solidFill>
                <a:latin typeface="Arial" pitchFamily="34" charset="0"/>
                <a:ea typeface="Arial" pitchFamily="34" charset="-122"/>
                <a:cs typeface="Arial" pitchFamily="34" charset="-120"/>
              </a:rPr>
              <a:t>Browser / Postman</a:t>
            </a:r>
            <a:endParaRPr lang="en-US" sz="950" dirty="0"/>
          </a:p>
        </p:txBody>
      </p:sp>
      <p:sp>
        <p:nvSpPr>
          <p:cNvPr id="10" name="Text 6"/>
          <p:cNvSpPr txBox="1"/>
          <p:nvPr/>
        </p:nvSpPr>
        <p:spPr>
          <a:xfrm>
            <a:off x="1828800" y="1170432"/>
            <a:ext cx="342900" cy="868680"/>
          </a:xfrm>
          <a:prstGeom prst="rect">
            <a:avLst/>
          </a:prstGeom>
          <a:noFill/>
          <a:ln/>
        </p:spPr>
        <p:txBody>
          <a:bodyPr wrap="square" lIns="0" tIns="0" rIns="0" bIns="0" rtlCol="0" anchor="ctr"/>
          <a:lstStyle/>
          <a:p>
            <a:pPr algn="ctr" indent="0" marL="0">
              <a:lnSpc>
                <a:spcPct val="100000"/>
              </a:lnSpc>
              <a:buNone/>
            </a:pPr>
            <a:r>
              <a:rPr lang="en-US" altLang="en-US" sz="1800" b="1" dirty="0">
                <a:solidFill>
                  <a:srgbClr val="1B9C8C"/>
                </a:solidFill>
                <a:latin typeface="Arial" pitchFamily="34" charset="0"/>
                <a:ea typeface="Arial" pitchFamily="34" charset="-122"/>
                <a:cs typeface="Arial" pitchFamily="34" charset="-120"/>
              </a:rPr>
              <a:t>→</a:t>
            </a:r>
            <a:endParaRPr lang="en-US" sz="1800" dirty="0"/>
          </a:p>
        </p:txBody>
      </p:sp>
      <p:sp>
        <p:nvSpPr>
          <p:cNvPr id="11" name="Shape 7"/>
          <p:cNvSpPr/>
          <p:nvPr/>
        </p:nvSpPr>
        <p:spPr>
          <a:xfrm>
            <a:off x="2171700" y="1170432"/>
            <a:ext cx="1371600" cy="868680"/>
          </a:xfrm>
          <a:prstGeom prst="roundRect">
            <a:avLst>
              <a:gd name="adj" fmla="val 10526"/>
            </a:avLst>
          </a:prstGeom>
          <a:solidFill>
            <a:srgbClr val="0E2230"/>
          </a:solidFill>
          <a:ln w="12700">
            <a:solidFill>
              <a:srgbClr val="0E2230"/>
            </a:solidFill>
            <a:prstDash val="solid"/>
          </a:ln>
          <a:effectLst>
            <a:outerShdw sx="100000" sy="100000" kx="0" ky="0" algn="bl" rotWithShape="0" blurRad="101600" dist="25400" dir="5400000">
              <a:srgbClr val="000000">
                <a:alpha val="10000"/>
              </a:srgbClr>
            </a:outerShdw>
          </a:effectLst>
        </p:spPr>
      </p:sp>
      <p:sp>
        <p:nvSpPr>
          <p:cNvPr id="12" name="Text 8"/>
          <p:cNvSpPr txBox="1"/>
          <p:nvPr/>
        </p:nvSpPr>
        <p:spPr>
          <a:xfrm>
            <a:off x="2244852" y="1243584"/>
            <a:ext cx="1225296" cy="274320"/>
          </a:xfrm>
          <a:prstGeom prst="rect">
            <a:avLst/>
          </a:prstGeom>
          <a:noFill/>
          <a:ln/>
        </p:spPr>
        <p:txBody>
          <a:bodyPr wrap="square" lIns="0" tIns="0" rIns="0" bIns="0" rtlCol="0" anchor="ctr"/>
          <a:lstStyle/>
          <a:p>
            <a:pPr algn="ctr" indent="0" marL="0">
              <a:lnSpc>
                <a:spcPct val="100000"/>
              </a:lnSpc>
              <a:buNone/>
            </a:pPr>
            <a:r>
              <a:rPr lang="en-US" altLang="en-US" sz="1300" b="1" dirty="0">
                <a:solidFill>
                  <a:srgbClr val="FFFFFF"/>
                </a:solidFill>
                <a:latin typeface="Arial" pitchFamily="34" charset="0"/>
                <a:ea typeface="Arial" pitchFamily="34" charset="-122"/>
                <a:cs typeface="Arial" pitchFamily="34" charset="-120"/>
              </a:rPr>
              <a:t>Express Server</a:t>
            </a:r>
            <a:endParaRPr lang="en-US" sz="1300" dirty="0"/>
          </a:p>
        </p:txBody>
      </p:sp>
      <p:sp>
        <p:nvSpPr>
          <p:cNvPr id="13" name="Text 9"/>
          <p:cNvSpPr txBox="1"/>
          <p:nvPr/>
        </p:nvSpPr>
        <p:spPr>
          <a:xfrm>
            <a:off x="2244852" y="1554480"/>
            <a:ext cx="1225296" cy="411480"/>
          </a:xfrm>
          <a:prstGeom prst="rect">
            <a:avLst/>
          </a:prstGeom>
          <a:noFill/>
          <a:ln/>
        </p:spPr>
        <p:txBody>
          <a:bodyPr wrap="square" lIns="0" tIns="0" rIns="0" bIns="0" rtlCol="0" anchor="t"/>
          <a:lstStyle/>
          <a:p>
            <a:pPr algn="ctr" indent="0" marL="0">
              <a:lnSpc>
                <a:spcPct val="100000"/>
              </a:lnSpc>
              <a:buNone/>
            </a:pPr>
            <a:r>
              <a:rPr lang="en-US" altLang="en-US" sz="950" dirty="0">
                <a:solidFill>
                  <a:srgbClr val="CADCE0"/>
                </a:solidFill>
                <a:latin typeface="Arial" pitchFamily="34" charset="0"/>
                <a:ea typeface="Arial" pitchFamily="34" charset="-122"/>
                <a:cs typeface="Arial" pitchFamily="34" charset="-120"/>
              </a:rPr>
              <a:t>express.json · cookie-parser</a:t>
            </a:r>
            <a:endParaRPr lang="en-US" sz="950" dirty="0"/>
          </a:p>
        </p:txBody>
      </p:sp>
      <p:sp>
        <p:nvSpPr>
          <p:cNvPr id="14" name="Text 10"/>
          <p:cNvSpPr txBox="1"/>
          <p:nvPr/>
        </p:nvSpPr>
        <p:spPr>
          <a:xfrm>
            <a:off x="3543300" y="1170432"/>
            <a:ext cx="342900" cy="868680"/>
          </a:xfrm>
          <a:prstGeom prst="rect">
            <a:avLst/>
          </a:prstGeom>
          <a:noFill/>
          <a:ln/>
        </p:spPr>
        <p:txBody>
          <a:bodyPr wrap="square" lIns="0" tIns="0" rIns="0" bIns="0" rtlCol="0" anchor="ctr"/>
          <a:lstStyle/>
          <a:p>
            <a:pPr algn="ctr" indent="0" marL="0">
              <a:lnSpc>
                <a:spcPct val="100000"/>
              </a:lnSpc>
              <a:buNone/>
            </a:pPr>
            <a:r>
              <a:rPr lang="en-US" altLang="en-US" sz="1800" b="1" dirty="0">
                <a:solidFill>
                  <a:srgbClr val="1B9C8C"/>
                </a:solidFill>
                <a:latin typeface="Arial" pitchFamily="34" charset="0"/>
                <a:ea typeface="Arial" pitchFamily="34" charset="-122"/>
                <a:cs typeface="Arial" pitchFamily="34" charset="-120"/>
              </a:rPr>
              <a:t>→</a:t>
            </a:r>
            <a:endParaRPr lang="en-US" sz="1800" dirty="0"/>
          </a:p>
        </p:txBody>
      </p:sp>
      <p:sp>
        <p:nvSpPr>
          <p:cNvPr id="15" name="Shape 11"/>
          <p:cNvSpPr/>
          <p:nvPr/>
        </p:nvSpPr>
        <p:spPr>
          <a:xfrm>
            <a:off x="3886200" y="1170432"/>
            <a:ext cx="1371600" cy="868680"/>
          </a:xfrm>
          <a:prstGeom prst="roundRect">
            <a:avLst>
              <a:gd name="adj" fmla="val 10526"/>
            </a:avLst>
          </a:prstGeom>
          <a:solidFill>
            <a:srgbClr val="1B9C8C"/>
          </a:solidFill>
          <a:ln w="12700">
            <a:solidFill>
              <a:srgbClr val="1B9C8C"/>
            </a:solidFill>
            <a:prstDash val="solid"/>
          </a:ln>
          <a:effectLst>
            <a:outerShdw sx="100000" sy="100000" kx="0" ky="0" algn="bl" rotWithShape="0" blurRad="101600" dist="25400" dir="5400000">
              <a:srgbClr val="000000">
                <a:alpha val="10000"/>
              </a:srgbClr>
            </a:outerShdw>
          </a:effectLst>
        </p:spPr>
      </p:sp>
      <p:sp>
        <p:nvSpPr>
          <p:cNvPr id="16" name="Text 12"/>
          <p:cNvSpPr txBox="1"/>
          <p:nvPr/>
        </p:nvSpPr>
        <p:spPr>
          <a:xfrm>
            <a:off x="3959352" y="1243584"/>
            <a:ext cx="1225296" cy="274320"/>
          </a:xfrm>
          <a:prstGeom prst="rect">
            <a:avLst/>
          </a:prstGeom>
          <a:noFill/>
          <a:ln/>
        </p:spPr>
        <p:txBody>
          <a:bodyPr wrap="square" lIns="0" tIns="0" rIns="0" bIns="0" rtlCol="0" anchor="ctr"/>
          <a:lstStyle/>
          <a:p>
            <a:pPr algn="ctr" indent="0" marL="0">
              <a:lnSpc>
                <a:spcPct val="100000"/>
              </a:lnSpc>
              <a:buNone/>
            </a:pPr>
            <a:r>
              <a:rPr lang="en-US" altLang="en-US" sz="1300" b="1" dirty="0">
                <a:solidFill>
                  <a:srgbClr val="FFFFFF"/>
                </a:solidFill>
                <a:latin typeface="Arial" pitchFamily="34" charset="0"/>
                <a:ea typeface="Arial" pitchFamily="34" charset="-122"/>
                <a:cs typeface="Arial" pitchFamily="34" charset="-120"/>
              </a:rPr>
              <a:t>Middleware</a:t>
            </a:r>
            <a:endParaRPr lang="en-US" sz="1300" dirty="0"/>
          </a:p>
        </p:txBody>
      </p:sp>
      <p:sp>
        <p:nvSpPr>
          <p:cNvPr id="17" name="Text 13"/>
          <p:cNvSpPr txBox="1"/>
          <p:nvPr/>
        </p:nvSpPr>
        <p:spPr>
          <a:xfrm>
            <a:off x="3959352" y="1554480"/>
            <a:ext cx="1225296" cy="411480"/>
          </a:xfrm>
          <a:prstGeom prst="rect">
            <a:avLst/>
          </a:prstGeom>
          <a:noFill/>
          <a:ln/>
        </p:spPr>
        <p:txBody>
          <a:bodyPr wrap="square" lIns="0" tIns="0" rIns="0" bIns="0" rtlCol="0" anchor="t"/>
          <a:lstStyle/>
          <a:p>
            <a:pPr algn="ctr" indent="0" marL="0">
              <a:lnSpc>
                <a:spcPct val="100000"/>
              </a:lnSpc>
              <a:buNone/>
            </a:pPr>
            <a:r>
              <a:rPr lang="en-US" altLang="en-US" sz="950" dirty="0">
                <a:solidFill>
                  <a:srgbClr val="FFFFFF"/>
                </a:solidFill>
                <a:latin typeface="Arial" pitchFamily="34" charset="0"/>
                <a:ea typeface="Arial" pitchFamily="34" charset="-122"/>
                <a:cs typeface="Arial" pitchFamily="34" charset="-120"/>
              </a:rPr>
              <a:t>protect → authorize</a:t>
            </a:r>
            <a:endParaRPr lang="en-US" sz="950" dirty="0"/>
          </a:p>
        </p:txBody>
      </p:sp>
      <p:sp>
        <p:nvSpPr>
          <p:cNvPr id="18" name="Text 14"/>
          <p:cNvSpPr txBox="1"/>
          <p:nvPr/>
        </p:nvSpPr>
        <p:spPr>
          <a:xfrm>
            <a:off x="5257800" y="1170432"/>
            <a:ext cx="342900" cy="868680"/>
          </a:xfrm>
          <a:prstGeom prst="rect">
            <a:avLst/>
          </a:prstGeom>
          <a:noFill/>
          <a:ln/>
        </p:spPr>
        <p:txBody>
          <a:bodyPr wrap="square" lIns="0" tIns="0" rIns="0" bIns="0" rtlCol="0" anchor="ctr"/>
          <a:lstStyle/>
          <a:p>
            <a:pPr algn="ctr" indent="0" marL="0">
              <a:lnSpc>
                <a:spcPct val="100000"/>
              </a:lnSpc>
              <a:buNone/>
            </a:pPr>
            <a:r>
              <a:rPr lang="en-US" altLang="en-US" sz="1800" b="1" dirty="0">
                <a:solidFill>
                  <a:srgbClr val="1B9C8C"/>
                </a:solidFill>
                <a:latin typeface="Arial" pitchFamily="34" charset="0"/>
                <a:ea typeface="Arial" pitchFamily="34" charset="-122"/>
                <a:cs typeface="Arial" pitchFamily="34" charset="-120"/>
              </a:rPr>
              <a:t>→</a:t>
            </a:r>
            <a:endParaRPr lang="en-US" sz="1800" dirty="0"/>
          </a:p>
        </p:txBody>
      </p:sp>
      <p:sp>
        <p:nvSpPr>
          <p:cNvPr id="19" name="Shape 15"/>
          <p:cNvSpPr/>
          <p:nvPr/>
        </p:nvSpPr>
        <p:spPr>
          <a:xfrm>
            <a:off x="5600700" y="1170432"/>
            <a:ext cx="1371600" cy="868680"/>
          </a:xfrm>
          <a:prstGeom prst="roundRect">
            <a:avLst>
              <a:gd name="adj" fmla="val 10526"/>
            </a:avLst>
          </a:prstGeom>
          <a:solidFill>
            <a:srgbClr val="0E2230"/>
          </a:solidFill>
          <a:ln w="12700">
            <a:solidFill>
              <a:srgbClr val="0E2230"/>
            </a:solidFill>
            <a:prstDash val="solid"/>
          </a:ln>
          <a:effectLst>
            <a:outerShdw sx="100000" sy="100000" kx="0" ky="0" algn="bl" rotWithShape="0" blurRad="101600" dist="25400" dir="5400000">
              <a:srgbClr val="000000">
                <a:alpha val="10000"/>
              </a:srgbClr>
            </a:outerShdw>
          </a:effectLst>
        </p:spPr>
      </p:sp>
      <p:sp>
        <p:nvSpPr>
          <p:cNvPr id="20" name="Text 16"/>
          <p:cNvSpPr txBox="1"/>
          <p:nvPr/>
        </p:nvSpPr>
        <p:spPr>
          <a:xfrm>
            <a:off x="5673852" y="1243584"/>
            <a:ext cx="1225296" cy="274320"/>
          </a:xfrm>
          <a:prstGeom prst="rect">
            <a:avLst/>
          </a:prstGeom>
          <a:noFill/>
          <a:ln/>
        </p:spPr>
        <p:txBody>
          <a:bodyPr wrap="square" lIns="0" tIns="0" rIns="0" bIns="0" rtlCol="0" anchor="ctr"/>
          <a:lstStyle/>
          <a:p>
            <a:pPr algn="ctr" indent="0" marL="0">
              <a:lnSpc>
                <a:spcPct val="100000"/>
              </a:lnSpc>
              <a:buNone/>
            </a:pPr>
            <a:r>
              <a:rPr lang="en-US" altLang="en-US" sz="1300" b="1" dirty="0">
                <a:solidFill>
                  <a:srgbClr val="FFFFFF"/>
                </a:solidFill>
                <a:latin typeface="Arial" pitchFamily="34" charset="0"/>
                <a:ea typeface="Arial" pitchFamily="34" charset="-122"/>
                <a:cs typeface="Arial" pitchFamily="34" charset="-120"/>
              </a:rPr>
              <a:t>Route Logic</a:t>
            </a:r>
            <a:endParaRPr lang="en-US" sz="1300" dirty="0"/>
          </a:p>
        </p:txBody>
      </p:sp>
      <p:sp>
        <p:nvSpPr>
          <p:cNvPr id="21" name="Text 17"/>
          <p:cNvSpPr txBox="1"/>
          <p:nvPr/>
        </p:nvSpPr>
        <p:spPr>
          <a:xfrm>
            <a:off x="5673852" y="1554480"/>
            <a:ext cx="1225296" cy="411480"/>
          </a:xfrm>
          <a:prstGeom prst="rect">
            <a:avLst/>
          </a:prstGeom>
          <a:noFill/>
          <a:ln/>
        </p:spPr>
        <p:txBody>
          <a:bodyPr wrap="square" lIns="0" tIns="0" rIns="0" bIns="0" rtlCol="0" anchor="t"/>
          <a:lstStyle/>
          <a:p>
            <a:pPr algn="ctr" indent="0" marL="0">
              <a:lnSpc>
                <a:spcPct val="100000"/>
              </a:lnSpc>
              <a:buNone/>
            </a:pPr>
            <a:r>
              <a:rPr lang="en-US" altLang="en-US" sz="950" dirty="0">
                <a:solidFill>
                  <a:srgbClr val="CADCE0"/>
                </a:solidFill>
                <a:latin typeface="Arial" pitchFamily="34" charset="0"/>
                <a:ea typeface="Arial" pitchFamily="34" charset="-122"/>
                <a:cs typeface="Arial" pitchFamily="34" charset="-120"/>
              </a:rPr>
              <a:t>RBAC service + filter</a:t>
            </a:r>
            <a:endParaRPr lang="en-US" sz="950" dirty="0"/>
          </a:p>
        </p:txBody>
      </p:sp>
      <p:sp>
        <p:nvSpPr>
          <p:cNvPr id="22" name="Text 18"/>
          <p:cNvSpPr txBox="1"/>
          <p:nvPr/>
        </p:nvSpPr>
        <p:spPr>
          <a:xfrm>
            <a:off x="6972300" y="1170432"/>
            <a:ext cx="342900" cy="868680"/>
          </a:xfrm>
          <a:prstGeom prst="rect">
            <a:avLst/>
          </a:prstGeom>
          <a:noFill/>
          <a:ln/>
        </p:spPr>
        <p:txBody>
          <a:bodyPr wrap="square" lIns="0" tIns="0" rIns="0" bIns="0" rtlCol="0" anchor="ctr"/>
          <a:lstStyle/>
          <a:p>
            <a:pPr algn="ctr" indent="0" marL="0">
              <a:lnSpc>
                <a:spcPct val="100000"/>
              </a:lnSpc>
              <a:buNone/>
            </a:pPr>
            <a:r>
              <a:rPr lang="en-US" altLang="en-US" sz="1800" b="1" dirty="0">
                <a:solidFill>
                  <a:srgbClr val="1B9C8C"/>
                </a:solidFill>
                <a:latin typeface="Arial" pitchFamily="34" charset="0"/>
                <a:ea typeface="Arial" pitchFamily="34" charset="-122"/>
                <a:cs typeface="Arial" pitchFamily="34" charset="-120"/>
              </a:rPr>
              <a:t>→</a:t>
            </a:r>
            <a:endParaRPr lang="en-US" sz="1800" dirty="0"/>
          </a:p>
        </p:txBody>
      </p:sp>
      <p:sp>
        <p:nvSpPr>
          <p:cNvPr id="23" name="Shape 19"/>
          <p:cNvSpPr/>
          <p:nvPr/>
        </p:nvSpPr>
        <p:spPr>
          <a:xfrm>
            <a:off x="7315200" y="1170432"/>
            <a:ext cx="1371600" cy="868680"/>
          </a:xfrm>
          <a:prstGeom prst="roundRect">
            <a:avLst>
              <a:gd name="adj" fmla="val 10526"/>
            </a:avLst>
          </a:prstGeom>
          <a:solidFill>
            <a:srgbClr val="0E2230"/>
          </a:solidFill>
          <a:ln w="12700">
            <a:solidFill>
              <a:srgbClr val="0E2230"/>
            </a:solidFill>
            <a:prstDash val="solid"/>
          </a:ln>
          <a:effectLst>
            <a:outerShdw sx="100000" sy="100000" kx="0" ky="0" algn="bl" rotWithShape="0" blurRad="101600" dist="25400" dir="5400000">
              <a:srgbClr val="000000">
                <a:alpha val="10000"/>
              </a:srgbClr>
            </a:outerShdw>
          </a:effectLst>
        </p:spPr>
      </p:sp>
      <p:sp>
        <p:nvSpPr>
          <p:cNvPr id="24" name="Text 20"/>
          <p:cNvSpPr txBox="1"/>
          <p:nvPr/>
        </p:nvSpPr>
        <p:spPr>
          <a:xfrm>
            <a:off x="7388352" y="1243584"/>
            <a:ext cx="1225296" cy="274320"/>
          </a:xfrm>
          <a:prstGeom prst="rect">
            <a:avLst/>
          </a:prstGeom>
          <a:noFill/>
          <a:ln/>
        </p:spPr>
        <p:txBody>
          <a:bodyPr wrap="square" lIns="0" tIns="0" rIns="0" bIns="0" rtlCol="0" anchor="ctr"/>
          <a:lstStyle/>
          <a:p>
            <a:pPr algn="ctr" indent="0" marL="0">
              <a:lnSpc>
                <a:spcPct val="100000"/>
              </a:lnSpc>
              <a:buNone/>
            </a:pPr>
            <a:r>
              <a:rPr lang="en-US" altLang="en-US" sz="1300" b="1" dirty="0">
                <a:solidFill>
                  <a:srgbClr val="FFFFFF"/>
                </a:solidFill>
                <a:latin typeface="Arial" pitchFamily="34" charset="0"/>
                <a:ea typeface="Arial" pitchFamily="34" charset="-122"/>
                <a:cs typeface="Arial" pitchFamily="34" charset="-120"/>
              </a:rPr>
              <a:t>MongoDB</a:t>
            </a:r>
            <a:endParaRPr lang="en-US" sz="1300" dirty="0"/>
          </a:p>
        </p:txBody>
      </p:sp>
      <p:sp>
        <p:nvSpPr>
          <p:cNvPr id="25" name="Text 21"/>
          <p:cNvSpPr txBox="1"/>
          <p:nvPr/>
        </p:nvSpPr>
        <p:spPr>
          <a:xfrm>
            <a:off x="7388352" y="1554480"/>
            <a:ext cx="1225296" cy="411480"/>
          </a:xfrm>
          <a:prstGeom prst="rect">
            <a:avLst/>
          </a:prstGeom>
          <a:noFill/>
          <a:ln/>
        </p:spPr>
        <p:txBody>
          <a:bodyPr wrap="square" lIns="0" tIns="0" rIns="0" bIns="0" rtlCol="0" anchor="t"/>
          <a:lstStyle/>
          <a:p>
            <a:pPr algn="ctr" indent="0" marL="0">
              <a:lnSpc>
                <a:spcPct val="100000"/>
              </a:lnSpc>
              <a:buNone/>
            </a:pPr>
            <a:r>
              <a:rPr lang="en-US" altLang="en-US" sz="950" dirty="0">
                <a:solidFill>
                  <a:srgbClr val="CADCE0"/>
                </a:solidFill>
                <a:latin typeface="Arial" pitchFamily="34" charset="0"/>
                <a:ea typeface="Arial" pitchFamily="34" charset="-122"/>
                <a:cs typeface="Arial" pitchFamily="34" charset="-120"/>
              </a:rPr>
              <a:t>Mongoose: User · Project · Role</a:t>
            </a:r>
            <a:endParaRPr lang="en-US" sz="950" dirty="0"/>
          </a:p>
        </p:txBody>
      </p:sp>
      <p:sp>
        <p:nvSpPr>
          <p:cNvPr id="26" name="Shape 22"/>
          <p:cNvSpPr/>
          <p:nvPr/>
        </p:nvSpPr>
        <p:spPr>
          <a:xfrm>
            <a:off x="457200" y="2240280"/>
            <a:ext cx="4983480" cy="2286000"/>
          </a:xfrm>
          <a:prstGeom prst="roundRect">
            <a:avLst>
              <a:gd name="adj" fmla="val 4800"/>
            </a:avLst>
          </a:prstGeom>
          <a:solidFill>
            <a:srgbClr val="13232E"/>
          </a:solidFill>
          <a:ln w="12700">
            <a:solidFill>
              <a:srgbClr val="13232E"/>
            </a:solidFill>
            <a:prstDash val="solid"/>
          </a:ln>
        </p:spPr>
      </p:sp>
      <p:sp>
        <p:nvSpPr>
          <p:cNvPr id="27" name="Text 23"/>
          <p:cNvSpPr txBox="1"/>
          <p:nvPr/>
        </p:nvSpPr>
        <p:spPr>
          <a:xfrm>
            <a:off x="621792" y="2368296"/>
            <a:ext cx="4654296" cy="2029968"/>
          </a:xfrm>
          <a:prstGeom prst="rect">
            <a:avLst/>
          </a:prstGeom>
          <a:noFill/>
          <a:ln/>
        </p:spPr>
        <p:txBody>
          <a:bodyPr wrap="square" lIns="0" tIns="0" rIns="0" bIns="0" rtlCol="0" anchor="t"/>
          <a:lstStyle/>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const protect = async (req, res, next) =&gt; {</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const token = req.cookies.token;</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if (!token) return res.status(401).json(...);</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try {</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const { id } = jwt.verify(token, process.env.JWT_SECRET);</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req.user = await User.findById(id);</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next();</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 catch { res.status(401).json(...); }</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a:t>
            </a:r>
            <a:endParaRPr lang="en-US" sz="900" dirty="0"/>
          </a:p>
          <a:p>
            <a:pPr algn="l" indent="0" marL="0">
              <a:buNone/>
            </a:pP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const authorize = (...roles) =&gt; (req, res, next) =&gt;</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roles.map(r =&gt; r.toLowerCase())</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.includes(req.user.role.toLowerCase())</a:t>
            </a:r>
            <a:endParaRPr lang="en-US" sz="900" dirty="0"/>
          </a:p>
          <a:p>
            <a:pPr algn="l" indent="0" marL="0">
              <a:buNone/>
            </a:pPr>
            <a:r>
              <a:rPr lang="en-US" altLang="en-US" sz="900" dirty="0">
                <a:solidFill>
                  <a:srgbClr val="E4ECEF"/>
                </a:solidFill>
                <a:latin typeface="Courier New" pitchFamily="34" charset="0"/>
                <a:ea typeface="Courier New" pitchFamily="34" charset="-122"/>
                <a:cs typeface="Courier New" pitchFamily="34" charset="-120"/>
              </a:rPr>
              <a:t>      ? next() : res.status(403).json(...);</a:t>
            </a:r>
            <a:endParaRPr lang="en-US" sz="900" dirty="0"/>
          </a:p>
        </p:txBody>
      </p:sp>
      <p:sp>
        <p:nvSpPr>
          <p:cNvPr id="28" name="Shape 24"/>
          <p:cNvSpPr/>
          <p:nvPr/>
        </p:nvSpPr>
        <p:spPr>
          <a:xfrm>
            <a:off x="5623560" y="2240280"/>
            <a:ext cx="3063240" cy="713232"/>
          </a:xfrm>
          <a:prstGeom prst="roundRect">
            <a:avLst>
              <a:gd name="adj" fmla="val 12821"/>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9" name="Shape 25"/>
          <p:cNvSpPr/>
          <p:nvPr/>
        </p:nvSpPr>
        <p:spPr>
          <a:xfrm>
            <a:off x="5733288" y="2414016"/>
            <a:ext cx="365760" cy="365760"/>
          </a:xfrm>
          <a:prstGeom prst="ellipse">
            <a:avLst/>
          </a:prstGeom>
          <a:solidFill>
            <a:srgbClr val="1B9C8C"/>
          </a:solidFill>
          <a:ln w="12700">
            <a:solidFill>
              <a:srgbClr val="1B9C8C"/>
            </a:solidFill>
            <a:prstDash val="solid"/>
          </a:ln>
        </p:spPr>
      </p:sp>
      <p:pic>
        <p:nvPicPr>
          <p:cNvPr id="30" name="Image 1" descr="preencoded.png">    </p:cNvPr>
          <p:cNvPicPr>
            <a:picLocks noChangeAspect="1"/>
          </p:cNvPicPr>
          <p:nvPr/>
        </p:nvPicPr>
        <p:blipFill>
          <a:blip r:embed="rId2"/>
          <a:stretch>
            <a:fillRect/>
          </a:stretch>
        </p:blipFill>
        <p:spPr>
          <a:xfrm>
            <a:off x="5824728" y="2505456"/>
            <a:ext cx="182880" cy="182880"/>
          </a:xfrm>
          <a:prstGeom prst="rect">
            <a:avLst/>
          </a:prstGeom>
        </p:spPr>
      </p:pic>
      <p:sp>
        <p:nvSpPr>
          <p:cNvPr id="31" name="Text 26"/>
          <p:cNvSpPr txBox="1"/>
          <p:nvPr/>
        </p:nvSpPr>
        <p:spPr>
          <a:xfrm>
            <a:off x="6217920" y="2313432"/>
            <a:ext cx="2377440" cy="228600"/>
          </a:xfrm>
          <a:prstGeom prst="rect">
            <a:avLst/>
          </a:prstGeom>
          <a:noFill/>
          <a:ln/>
        </p:spPr>
        <p:txBody>
          <a:bodyPr wrap="square" lIns="0" tIns="0" rIns="0" bIns="0" rtlCol="0" anchor="t"/>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protect  →  401</a:t>
            </a:r>
            <a:endParaRPr lang="en-US" sz="1200" dirty="0"/>
          </a:p>
        </p:txBody>
      </p:sp>
      <p:sp>
        <p:nvSpPr>
          <p:cNvPr id="32" name="Text 27"/>
          <p:cNvSpPr txBox="1"/>
          <p:nvPr/>
        </p:nvSpPr>
        <p:spPr>
          <a:xfrm>
            <a:off x="6217920" y="2569464"/>
            <a:ext cx="2377440" cy="36576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Verifies the JWT taken from the cookie</a:t>
            </a:r>
            <a:endParaRPr lang="en-US" sz="1000" dirty="0"/>
          </a:p>
        </p:txBody>
      </p:sp>
      <p:sp>
        <p:nvSpPr>
          <p:cNvPr id="33" name="Shape 28"/>
          <p:cNvSpPr/>
          <p:nvPr/>
        </p:nvSpPr>
        <p:spPr>
          <a:xfrm>
            <a:off x="5623560" y="3017520"/>
            <a:ext cx="3063240" cy="713232"/>
          </a:xfrm>
          <a:prstGeom prst="roundRect">
            <a:avLst>
              <a:gd name="adj" fmla="val 12821"/>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4" name="Shape 29"/>
          <p:cNvSpPr/>
          <p:nvPr/>
        </p:nvSpPr>
        <p:spPr>
          <a:xfrm>
            <a:off x="5733288" y="3191256"/>
            <a:ext cx="365760" cy="365760"/>
          </a:xfrm>
          <a:prstGeom prst="ellipse">
            <a:avLst/>
          </a:prstGeom>
          <a:solidFill>
            <a:srgbClr val="1B9C8C"/>
          </a:solidFill>
          <a:ln w="12700">
            <a:solidFill>
              <a:srgbClr val="1B9C8C"/>
            </a:solidFill>
            <a:prstDash val="solid"/>
          </a:ln>
        </p:spPr>
      </p:sp>
      <p:pic>
        <p:nvPicPr>
          <p:cNvPr id="35" name="Image 2" descr="preencoded.png">    </p:cNvPr>
          <p:cNvPicPr>
            <a:picLocks noChangeAspect="1"/>
          </p:cNvPicPr>
          <p:nvPr/>
        </p:nvPicPr>
        <p:blipFill>
          <a:blip r:embed="rId3"/>
          <a:stretch>
            <a:fillRect/>
          </a:stretch>
        </p:blipFill>
        <p:spPr>
          <a:xfrm>
            <a:off x="5824728" y="3282696"/>
            <a:ext cx="182880" cy="182880"/>
          </a:xfrm>
          <a:prstGeom prst="rect">
            <a:avLst/>
          </a:prstGeom>
        </p:spPr>
      </p:pic>
      <p:sp>
        <p:nvSpPr>
          <p:cNvPr id="36" name="Text 30"/>
          <p:cNvSpPr txBox="1"/>
          <p:nvPr/>
        </p:nvSpPr>
        <p:spPr>
          <a:xfrm>
            <a:off x="6217920" y="3090672"/>
            <a:ext cx="2377440" cy="228600"/>
          </a:xfrm>
          <a:prstGeom prst="rect">
            <a:avLst/>
          </a:prstGeom>
          <a:noFill/>
          <a:ln/>
        </p:spPr>
        <p:txBody>
          <a:bodyPr wrap="square" lIns="0" tIns="0" rIns="0" bIns="0" rtlCol="0" anchor="t"/>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authorize  →  403</a:t>
            </a:r>
            <a:endParaRPr lang="en-US" sz="1200" dirty="0"/>
          </a:p>
        </p:txBody>
      </p:sp>
      <p:sp>
        <p:nvSpPr>
          <p:cNvPr id="37" name="Text 31"/>
          <p:cNvSpPr txBox="1"/>
          <p:nvPr/>
        </p:nvSpPr>
        <p:spPr>
          <a:xfrm>
            <a:off x="6217920" y="3346704"/>
            <a:ext cx="2377440" cy="36576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Compares the role, case-insensitive</a:t>
            </a:r>
            <a:endParaRPr lang="en-US" sz="1000" dirty="0"/>
          </a:p>
        </p:txBody>
      </p:sp>
      <p:sp>
        <p:nvSpPr>
          <p:cNvPr id="38" name="Shape 32"/>
          <p:cNvSpPr/>
          <p:nvPr/>
        </p:nvSpPr>
        <p:spPr>
          <a:xfrm>
            <a:off x="5623560" y="3794760"/>
            <a:ext cx="3063240" cy="713232"/>
          </a:xfrm>
          <a:prstGeom prst="roundRect">
            <a:avLst>
              <a:gd name="adj" fmla="val 12821"/>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39" name="Shape 33"/>
          <p:cNvSpPr/>
          <p:nvPr/>
        </p:nvSpPr>
        <p:spPr>
          <a:xfrm>
            <a:off x="5733288" y="3968496"/>
            <a:ext cx="365760" cy="365760"/>
          </a:xfrm>
          <a:prstGeom prst="ellipse">
            <a:avLst/>
          </a:prstGeom>
          <a:solidFill>
            <a:srgbClr val="1B9C8C"/>
          </a:solidFill>
          <a:ln w="12700">
            <a:solidFill>
              <a:srgbClr val="1B9C8C"/>
            </a:solidFill>
            <a:prstDash val="solid"/>
          </a:ln>
        </p:spPr>
      </p:sp>
      <p:pic>
        <p:nvPicPr>
          <p:cNvPr id="40" name="Image 3" descr="preencoded.png">    </p:cNvPr>
          <p:cNvPicPr>
            <a:picLocks noChangeAspect="1"/>
          </p:cNvPicPr>
          <p:nvPr/>
        </p:nvPicPr>
        <p:blipFill>
          <a:blip r:embed="rId4"/>
          <a:stretch>
            <a:fillRect/>
          </a:stretch>
        </p:blipFill>
        <p:spPr>
          <a:xfrm>
            <a:off x="5824728" y="4059936"/>
            <a:ext cx="182880" cy="182880"/>
          </a:xfrm>
          <a:prstGeom prst="rect">
            <a:avLst/>
          </a:prstGeom>
        </p:spPr>
      </p:pic>
      <p:sp>
        <p:nvSpPr>
          <p:cNvPr id="41" name="Text 34"/>
          <p:cNvSpPr txBox="1"/>
          <p:nvPr/>
        </p:nvSpPr>
        <p:spPr>
          <a:xfrm>
            <a:off x="6217920" y="3867912"/>
            <a:ext cx="2377440" cy="228600"/>
          </a:xfrm>
          <a:prstGeom prst="rect">
            <a:avLst/>
          </a:prstGeom>
          <a:noFill/>
          <a:ln/>
        </p:spPr>
        <p:txBody>
          <a:bodyPr wrap="square" lIns="0" tIns="0" rIns="0" bIns="0" rtlCol="0" anchor="t"/>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httpOnly cookie + secret</a:t>
            </a:r>
            <a:endParaRPr lang="en-US" sz="1200" dirty="0"/>
          </a:p>
        </p:txBody>
      </p:sp>
      <p:sp>
        <p:nvSpPr>
          <p:cNvPr id="42" name="Text 35"/>
          <p:cNvSpPr txBox="1"/>
          <p:nvPr/>
        </p:nvSpPr>
        <p:spPr>
          <a:xfrm>
            <a:off x="6217920" y="4123944"/>
            <a:ext cx="2377440" cy="365760"/>
          </a:xfrm>
          <a:prstGeom prst="rect">
            <a:avLst/>
          </a:prstGeom>
          <a:noFill/>
          <a:ln/>
        </p:spPr>
        <p:txBody>
          <a:bodyPr wrap="square" lIns="0" tIns="0" rIns="0" bIns="0" rtlCol="0" anchor="t"/>
          <a:lstStyle/>
          <a:p>
            <a:pPr algn="l" indent="0" marL="0">
              <a:lnSpc>
                <a:spcPct val="100000"/>
              </a:lnSpc>
              <a:buNone/>
            </a:pPr>
            <a:r>
              <a:rPr lang="en-US" altLang="en-US" sz="1000" dirty="0">
                <a:solidFill>
                  <a:srgbClr val="5B6C77"/>
                </a:solidFill>
                <a:latin typeface="Arial" pitchFamily="34" charset="0"/>
                <a:ea typeface="Arial" pitchFamily="34" charset="-122"/>
                <a:cs typeface="Arial" pitchFamily="34" charset="-120"/>
              </a:rPr>
              <a:t>JS cannot read the token; secret lives in .env</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RBAC &amp; Role-Based Visibility</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4 / 8</a:t>
            </a:r>
            <a:endParaRPr lang="en-US" sz="900" dirty="0"/>
          </a:p>
        </p:txBody>
      </p:sp>
      <p:sp>
        <p:nvSpPr>
          <p:cNvPr id="7" name="Shape 3"/>
          <p:cNvSpPr/>
          <p:nvPr/>
        </p:nvSpPr>
        <p:spPr>
          <a:xfrm>
            <a:off x="457200" y="1170432"/>
            <a:ext cx="265176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Shape 4"/>
          <p:cNvSpPr/>
          <p:nvPr/>
        </p:nvSpPr>
        <p:spPr>
          <a:xfrm>
            <a:off x="621792" y="1280160"/>
            <a:ext cx="457200" cy="457200"/>
          </a:xfrm>
          <a:prstGeom prst="ellipse">
            <a:avLst/>
          </a:prstGeom>
          <a:solidFill>
            <a:srgbClr val="137366"/>
          </a:solidFill>
          <a:ln w="12700">
            <a:solidFill>
              <a:srgbClr val="137366"/>
            </a:solidFill>
            <a:prstDash val="solid"/>
          </a:ln>
        </p:spPr>
      </p:sp>
      <p:pic>
        <p:nvPicPr>
          <p:cNvPr id="9" name="Image 1" descr="preencoded.png">    </p:cNvPr>
          <p:cNvPicPr>
            <a:picLocks noChangeAspect="1"/>
          </p:cNvPicPr>
          <p:nvPr/>
        </p:nvPicPr>
        <p:blipFill>
          <a:blip r:embed="rId2"/>
          <a:stretch>
            <a:fillRect/>
          </a:stretch>
        </p:blipFill>
        <p:spPr>
          <a:xfrm>
            <a:off x="736092" y="1394460"/>
            <a:ext cx="228600" cy="228600"/>
          </a:xfrm>
          <a:prstGeom prst="rect">
            <a:avLst/>
          </a:prstGeom>
        </p:spPr>
      </p:pic>
      <p:sp>
        <p:nvSpPr>
          <p:cNvPr id="10" name="Text 5"/>
          <p:cNvSpPr txBox="1"/>
          <p:nvPr/>
        </p:nvSpPr>
        <p:spPr>
          <a:xfrm>
            <a:off x="1207008" y="1280160"/>
            <a:ext cx="1783080" cy="457200"/>
          </a:xfrm>
          <a:prstGeom prst="rect">
            <a:avLst/>
          </a:prstGeom>
          <a:noFill/>
          <a:ln/>
        </p:spPr>
        <p:txBody>
          <a:bodyPr wrap="square" lIns="0" tIns="0" rIns="0" bIns="0" rtlCol="0" anchor="ctr"/>
          <a:lstStyle/>
          <a:p>
            <a:pPr algn="l" indent="0" marL="0">
              <a:lnSpc>
                <a:spcPct val="100000"/>
              </a:lnSpc>
              <a:buNone/>
            </a:pPr>
            <a:r>
              <a:rPr lang="en-US" altLang="en-US" sz="1600" b="1" dirty="0">
                <a:solidFill>
                  <a:srgbClr val="0E2230"/>
                </a:solidFill>
                <a:latin typeface="Arial" pitchFamily="34" charset="0"/>
                <a:ea typeface="Arial" pitchFamily="34" charset="-122"/>
                <a:cs typeface="Arial" pitchFamily="34" charset="-120"/>
              </a:rPr>
              <a:t>Admin</a:t>
            </a:r>
            <a:endParaRPr lang="en-US" sz="1600" dirty="0"/>
          </a:p>
        </p:txBody>
      </p:sp>
      <p:sp>
        <p:nvSpPr>
          <p:cNvPr id="11" name="Text 6"/>
          <p:cNvSpPr txBox="1"/>
          <p:nvPr/>
        </p:nvSpPr>
        <p:spPr>
          <a:xfrm>
            <a:off x="621792" y="1810512"/>
            <a:ext cx="2331720" cy="201168"/>
          </a:xfrm>
          <a:prstGeom prst="rect">
            <a:avLst/>
          </a:prstGeom>
          <a:noFill/>
          <a:ln/>
        </p:spPr>
        <p:txBody>
          <a:bodyPr wrap="square" lIns="0" tIns="0" rIns="0" bIns="0" rtlCol="0" anchor="t"/>
          <a:lstStyle/>
          <a:p>
            <a:pPr algn="l" indent="0" marL="0">
              <a:lnSpc>
                <a:spcPct val="100000"/>
              </a:lnSpc>
              <a:buNone/>
            </a:pPr>
            <a:r>
              <a:rPr lang="en-US" altLang="en-US" sz="1100" dirty="0">
                <a:solidFill>
                  <a:srgbClr val="1A2B35"/>
                </a:solidFill>
                <a:latin typeface="Arial" pitchFamily="34" charset="0"/>
                <a:ea typeface="Arial" pitchFamily="34" charset="-122"/>
                <a:cs typeface="Arial" pitchFamily="34" charset="-120"/>
              </a:rPr>
              <a:t>Views all projects</a:t>
            </a:r>
            <a:endParaRPr lang="en-US" sz="1100" dirty="0"/>
          </a:p>
        </p:txBody>
      </p:sp>
      <p:sp>
        <p:nvSpPr>
          <p:cNvPr id="12" name="Text 7"/>
          <p:cNvSpPr txBox="1"/>
          <p:nvPr/>
        </p:nvSpPr>
        <p:spPr>
          <a:xfrm>
            <a:off x="621792" y="2011680"/>
            <a:ext cx="2331720" cy="182880"/>
          </a:xfrm>
          <a:prstGeom prst="rect">
            <a:avLst/>
          </a:prstGeom>
          <a:noFill/>
          <a:ln/>
        </p:spPr>
        <p:txBody>
          <a:bodyPr wrap="square" lIns="0" tIns="0" rIns="0" bIns="0" rtlCol="0" anchor="ctr"/>
          <a:lstStyle/>
          <a:p>
            <a:pPr algn="l" indent="0" marL="0">
              <a:buNone/>
            </a:pPr>
            <a:r>
              <a:rPr lang="en-US" sz="850" dirty="0">
                <a:solidFill>
                  <a:srgbClr val="5B6C77"/>
                </a:solidFill>
                <a:latin typeface="Courier New" pitchFamily="34" charset="0"/>
                <a:ea typeface="Courier New" pitchFamily="34" charset="-122"/>
                <a:cs typeface="Courier New" pitchFamily="34" charset="-120"/>
              </a:rPr>
              <a:t>read:all · create · update · delete</a:t>
            </a:r>
            <a:endParaRPr lang="en-US" sz="850" dirty="0"/>
          </a:p>
        </p:txBody>
      </p:sp>
      <p:sp>
        <p:nvSpPr>
          <p:cNvPr id="13" name="Shape 8"/>
          <p:cNvSpPr/>
          <p:nvPr/>
        </p:nvSpPr>
        <p:spPr>
          <a:xfrm>
            <a:off x="621792" y="2221992"/>
            <a:ext cx="2322576" cy="256032"/>
          </a:xfrm>
          <a:prstGeom prst="roundRect">
            <a:avLst>
              <a:gd name="adj" fmla="val 28571"/>
            </a:avLst>
          </a:prstGeom>
          <a:solidFill>
            <a:srgbClr val="13232E"/>
          </a:solidFill>
          <a:ln w="12700">
            <a:solidFill>
              <a:srgbClr val="13232E"/>
            </a:solidFill>
            <a:prstDash val="solid"/>
          </a:ln>
        </p:spPr>
      </p:sp>
      <p:sp>
        <p:nvSpPr>
          <p:cNvPr id="14" name="Text 9"/>
          <p:cNvSpPr txBox="1"/>
          <p:nvPr/>
        </p:nvSpPr>
        <p:spPr>
          <a:xfrm>
            <a:off x="621792" y="2221992"/>
            <a:ext cx="2322576" cy="256032"/>
          </a:xfrm>
          <a:prstGeom prst="rect">
            <a:avLst/>
          </a:prstGeom>
          <a:noFill/>
          <a:ln/>
        </p:spPr>
        <p:txBody>
          <a:bodyPr wrap="square" lIns="0" tIns="0" rIns="0" bIns="0" rtlCol="0" anchor="ctr"/>
          <a:lstStyle/>
          <a:p>
            <a:pPr algn="ctr" indent="0" marL="0">
              <a:buNone/>
            </a:pPr>
            <a:r>
              <a:rPr lang="en-US" sz="1000" dirty="0">
                <a:solidFill>
                  <a:srgbClr val="E4ECEF"/>
                </a:solidFill>
                <a:latin typeface="Courier New" pitchFamily="34" charset="0"/>
                <a:ea typeface="Courier New" pitchFamily="34" charset="-122"/>
                <a:cs typeface="Courier New" pitchFamily="34" charset="-120"/>
              </a:rPr>
              <a:t>{ }</a:t>
            </a:r>
            <a:endParaRPr lang="en-US" sz="1000" dirty="0"/>
          </a:p>
        </p:txBody>
      </p:sp>
      <p:sp>
        <p:nvSpPr>
          <p:cNvPr id="15" name="Shape 10"/>
          <p:cNvSpPr/>
          <p:nvPr/>
        </p:nvSpPr>
        <p:spPr>
          <a:xfrm>
            <a:off x="3246120" y="1170432"/>
            <a:ext cx="265176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6" name="Shape 11"/>
          <p:cNvSpPr/>
          <p:nvPr/>
        </p:nvSpPr>
        <p:spPr>
          <a:xfrm>
            <a:off x="3410712" y="1280160"/>
            <a:ext cx="457200" cy="457200"/>
          </a:xfrm>
          <a:prstGeom prst="ellipse">
            <a:avLst/>
          </a:prstGeom>
          <a:solidFill>
            <a:srgbClr val="1B9C8C"/>
          </a:solidFill>
          <a:ln w="12700">
            <a:solidFill>
              <a:srgbClr val="1B9C8C"/>
            </a:solidFill>
            <a:prstDash val="solid"/>
          </a:ln>
        </p:spPr>
      </p:sp>
      <p:pic>
        <p:nvPicPr>
          <p:cNvPr id="17" name="Image 2" descr="preencoded.png">    </p:cNvPr>
          <p:cNvPicPr>
            <a:picLocks noChangeAspect="1"/>
          </p:cNvPicPr>
          <p:nvPr/>
        </p:nvPicPr>
        <p:blipFill>
          <a:blip r:embed="rId3"/>
          <a:stretch>
            <a:fillRect/>
          </a:stretch>
        </p:blipFill>
        <p:spPr>
          <a:xfrm>
            <a:off x="3525012" y="1394460"/>
            <a:ext cx="228600" cy="228600"/>
          </a:xfrm>
          <a:prstGeom prst="rect">
            <a:avLst/>
          </a:prstGeom>
        </p:spPr>
      </p:pic>
      <p:sp>
        <p:nvSpPr>
          <p:cNvPr id="18" name="Text 12"/>
          <p:cNvSpPr txBox="1"/>
          <p:nvPr/>
        </p:nvSpPr>
        <p:spPr>
          <a:xfrm>
            <a:off x="3995928" y="1280160"/>
            <a:ext cx="1783080" cy="457200"/>
          </a:xfrm>
          <a:prstGeom prst="rect">
            <a:avLst/>
          </a:prstGeom>
          <a:noFill/>
          <a:ln/>
        </p:spPr>
        <p:txBody>
          <a:bodyPr wrap="square" lIns="0" tIns="0" rIns="0" bIns="0" rtlCol="0" anchor="ctr"/>
          <a:lstStyle/>
          <a:p>
            <a:pPr algn="l" indent="0" marL="0">
              <a:lnSpc>
                <a:spcPct val="100000"/>
              </a:lnSpc>
              <a:buNone/>
            </a:pPr>
            <a:r>
              <a:rPr lang="en-US" altLang="en-US" sz="1600" b="1" dirty="0">
                <a:solidFill>
                  <a:srgbClr val="0E2230"/>
                </a:solidFill>
                <a:latin typeface="Arial" pitchFamily="34" charset="0"/>
                <a:ea typeface="Arial" pitchFamily="34" charset="-122"/>
                <a:cs typeface="Arial" pitchFamily="34" charset="-120"/>
              </a:rPr>
              <a:t>Manager</a:t>
            </a:r>
            <a:endParaRPr lang="en-US" sz="1600" dirty="0"/>
          </a:p>
        </p:txBody>
      </p:sp>
      <p:sp>
        <p:nvSpPr>
          <p:cNvPr id="19" name="Text 13"/>
          <p:cNvSpPr txBox="1"/>
          <p:nvPr/>
        </p:nvSpPr>
        <p:spPr>
          <a:xfrm>
            <a:off x="3410712" y="1810512"/>
            <a:ext cx="2331720" cy="201168"/>
          </a:xfrm>
          <a:prstGeom prst="rect">
            <a:avLst/>
          </a:prstGeom>
          <a:noFill/>
          <a:ln/>
        </p:spPr>
        <p:txBody>
          <a:bodyPr wrap="square" lIns="0" tIns="0" rIns="0" bIns="0" rtlCol="0" anchor="t"/>
          <a:lstStyle/>
          <a:p>
            <a:pPr algn="l" indent="0" marL="0">
              <a:lnSpc>
                <a:spcPct val="100000"/>
              </a:lnSpc>
              <a:buNone/>
            </a:pPr>
            <a:r>
              <a:rPr lang="en-US" altLang="en-US" sz="1100" dirty="0">
                <a:solidFill>
                  <a:srgbClr val="1A2B35"/>
                </a:solidFill>
                <a:latin typeface="Arial" pitchFamily="34" charset="0"/>
                <a:ea typeface="Arial" pitchFamily="34" charset="-122"/>
                <a:cs typeface="Arial" pitchFamily="34" charset="-120"/>
              </a:rPr>
              <a:t>Projects in their department</a:t>
            </a:r>
            <a:endParaRPr lang="en-US" sz="1100" dirty="0"/>
          </a:p>
        </p:txBody>
      </p:sp>
      <p:sp>
        <p:nvSpPr>
          <p:cNvPr id="20" name="Text 14"/>
          <p:cNvSpPr txBox="1"/>
          <p:nvPr/>
        </p:nvSpPr>
        <p:spPr>
          <a:xfrm>
            <a:off x="3410712" y="2011680"/>
            <a:ext cx="2331720" cy="182880"/>
          </a:xfrm>
          <a:prstGeom prst="rect">
            <a:avLst/>
          </a:prstGeom>
          <a:noFill/>
          <a:ln/>
        </p:spPr>
        <p:txBody>
          <a:bodyPr wrap="square" lIns="0" tIns="0" rIns="0" bIns="0" rtlCol="0" anchor="ctr"/>
          <a:lstStyle/>
          <a:p>
            <a:pPr algn="l" indent="0" marL="0">
              <a:buNone/>
            </a:pPr>
            <a:r>
              <a:rPr lang="en-US" sz="850" dirty="0">
                <a:solidFill>
                  <a:srgbClr val="5B6C77"/>
                </a:solidFill>
                <a:latin typeface="Courier New" pitchFamily="34" charset="0"/>
                <a:ea typeface="Courier New" pitchFamily="34" charset="-122"/>
                <a:cs typeface="Courier New" pitchFamily="34" charset="-120"/>
              </a:rPr>
              <a:t>read:department · create · update</a:t>
            </a:r>
            <a:endParaRPr lang="en-US" sz="850" dirty="0"/>
          </a:p>
        </p:txBody>
      </p:sp>
      <p:sp>
        <p:nvSpPr>
          <p:cNvPr id="21" name="Shape 15"/>
          <p:cNvSpPr/>
          <p:nvPr/>
        </p:nvSpPr>
        <p:spPr>
          <a:xfrm>
            <a:off x="3410712" y="2221992"/>
            <a:ext cx="2322576" cy="256032"/>
          </a:xfrm>
          <a:prstGeom prst="roundRect">
            <a:avLst>
              <a:gd name="adj" fmla="val 28571"/>
            </a:avLst>
          </a:prstGeom>
          <a:solidFill>
            <a:srgbClr val="13232E"/>
          </a:solidFill>
          <a:ln w="12700">
            <a:solidFill>
              <a:srgbClr val="13232E"/>
            </a:solidFill>
            <a:prstDash val="solid"/>
          </a:ln>
        </p:spPr>
      </p:sp>
      <p:sp>
        <p:nvSpPr>
          <p:cNvPr id="22" name="Text 16"/>
          <p:cNvSpPr txBox="1"/>
          <p:nvPr/>
        </p:nvSpPr>
        <p:spPr>
          <a:xfrm>
            <a:off x="3410712" y="2221992"/>
            <a:ext cx="2322576" cy="256032"/>
          </a:xfrm>
          <a:prstGeom prst="rect">
            <a:avLst/>
          </a:prstGeom>
          <a:noFill/>
          <a:ln/>
        </p:spPr>
        <p:txBody>
          <a:bodyPr wrap="square" lIns="0" tIns="0" rIns="0" bIns="0" rtlCol="0" anchor="ctr"/>
          <a:lstStyle/>
          <a:p>
            <a:pPr algn="ctr" indent="0" marL="0">
              <a:buNone/>
            </a:pPr>
            <a:r>
              <a:rPr lang="en-US" sz="1000" dirty="0">
                <a:solidFill>
                  <a:srgbClr val="E4ECEF"/>
                </a:solidFill>
                <a:latin typeface="Courier New" pitchFamily="34" charset="0"/>
                <a:ea typeface="Courier New" pitchFamily="34" charset="-122"/>
                <a:cs typeface="Courier New" pitchFamily="34" charset="-120"/>
              </a:rPr>
              <a:t>{ department }</a:t>
            </a:r>
            <a:endParaRPr lang="en-US" sz="1000" dirty="0"/>
          </a:p>
        </p:txBody>
      </p:sp>
      <p:sp>
        <p:nvSpPr>
          <p:cNvPr id="23" name="Shape 17"/>
          <p:cNvSpPr/>
          <p:nvPr/>
        </p:nvSpPr>
        <p:spPr>
          <a:xfrm>
            <a:off x="6035040" y="1170432"/>
            <a:ext cx="265176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4" name="Shape 18"/>
          <p:cNvSpPr/>
          <p:nvPr/>
        </p:nvSpPr>
        <p:spPr>
          <a:xfrm>
            <a:off x="6199632" y="1280160"/>
            <a:ext cx="457200" cy="457200"/>
          </a:xfrm>
          <a:prstGeom prst="ellipse">
            <a:avLst/>
          </a:prstGeom>
          <a:solidFill>
            <a:srgbClr val="0E2230"/>
          </a:solidFill>
          <a:ln w="12700">
            <a:solidFill>
              <a:srgbClr val="0E2230"/>
            </a:solidFill>
            <a:prstDash val="solid"/>
          </a:ln>
        </p:spPr>
      </p:sp>
      <p:pic>
        <p:nvPicPr>
          <p:cNvPr id="25" name="Image 3" descr="preencoded.png">    </p:cNvPr>
          <p:cNvPicPr>
            <a:picLocks noChangeAspect="1"/>
          </p:cNvPicPr>
          <p:nvPr/>
        </p:nvPicPr>
        <p:blipFill>
          <a:blip r:embed="rId4"/>
          <a:stretch>
            <a:fillRect/>
          </a:stretch>
        </p:blipFill>
        <p:spPr>
          <a:xfrm>
            <a:off x="6313932" y="1394460"/>
            <a:ext cx="228600" cy="228600"/>
          </a:xfrm>
          <a:prstGeom prst="rect">
            <a:avLst/>
          </a:prstGeom>
        </p:spPr>
      </p:pic>
      <p:sp>
        <p:nvSpPr>
          <p:cNvPr id="26" name="Text 19"/>
          <p:cNvSpPr txBox="1"/>
          <p:nvPr/>
        </p:nvSpPr>
        <p:spPr>
          <a:xfrm>
            <a:off x="6784848" y="1280160"/>
            <a:ext cx="1783080" cy="457200"/>
          </a:xfrm>
          <a:prstGeom prst="rect">
            <a:avLst/>
          </a:prstGeom>
          <a:noFill/>
          <a:ln/>
        </p:spPr>
        <p:txBody>
          <a:bodyPr wrap="square" lIns="0" tIns="0" rIns="0" bIns="0" rtlCol="0" anchor="ctr"/>
          <a:lstStyle/>
          <a:p>
            <a:pPr algn="l" indent="0" marL="0">
              <a:lnSpc>
                <a:spcPct val="100000"/>
              </a:lnSpc>
              <a:buNone/>
            </a:pPr>
            <a:r>
              <a:rPr lang="en-US" altLang="en-US" sz="1600" b="1" dirty="0">
                <a:solidFill>
                  <a:srgbClr val="0E2230"/>
                </a:solidFill>
                <a:latin typeface="Arial" pitchFamily="34" charset="0"/>
                <a:ea typeface="Arial" pitchFamily="34" charset="-122"/>
                <a:cs typeface="Arial" pitchFamily="34" charset="-120"/>
              </a:rPr>
              <a:t>Viewer</a:t>
            </a:r>
            <a:endParaRPr lang="en-US" sz="1600" dirty="0"/>
          </a:p>
        </p:txBody>
      </p:sp>
      <p:sp>
        <p:nvSpPr>
          <p:cNvPr id="27" name="Text 20"/>
          <p:cNvSpPr txBox="1"/>
          <p:nvPr/>
        </p:nvSpPr>
        <p:spPr>
          <a:xfrm>
            <a:off x="6199632" y="1810512"/>
            <a:ext cx="2331720" cy="201168"/>
          </a:xfrm>
          <a:prstGeom prst="rect">
            <a:avLst/>
          </a:prstGeom>
          <a:noFill/>
          <a:ln/>
        </p:spPr>
        <p:txBody>
          <a:bodyPr wrap="square" lIns="0" tIns="0" rIns="0" bIns="0" rtlCol="0" anchor="t"/>
          <a:lstStyle/>
          <a:p>
            <a:pPr algn="l" indent="0" marL="0">
              <a:lnSpc>
                <a:spcPct val="100000"/>
              </a:lnSpc>
              <a:buNone/>
            </a:pPr>
            <a:r>
              <a:rPr lang="en-US" altLang="en-US" sz="1100" dirty="0">
                <a:solidFill>
                  <a:srgbClr val="1A2B35"/>
                </a:solidFill>
                <a:latin typeface="Arial" pitchFamily="34" charset="0"/>
                <a:ea typeface="Arial" pitchFamily="34" charset="-122"/>
                <a:cs typeface="Arial" pitchFamily="34" charset="-120"/>
              </a:rPr>
              <a:t>Only assigned projects</a:t>
            </a:r>
            <a:endParaRPr lang="en-US" sz="1100" dirty="0"/>
          </a:p>
        </p:txBody>
      </p:sp>
      <p:sp>
        <p:nvSpPr>
          <p:cNvPr id="28" name="Text 21"/>
          <p:cNvSpPr txBox="1"/>
          <p:nvPr/>
        </p:nvSpPr>
        <p:spPr>
          <a:xfrm>
            <a:off x="6199632" y="2011680"/>
            <a:ext cx="2331720" cy="182880"/>
          </a:xfrm>
          <a:prstGeom prst="rect">
            <a:avLst/>
          </a:prstGeom>
          <a:noFill/>
          <a:ln/>
        </p:spPr>
        <p:txBody>
          <a:bodyPr wrap="square" lIns="0" tIns="0" rIns="0" bIns="0" rtlCol="0" anchor="ctr"/>
          <a:lstStyle/>
          <a:p>
            <a:pPr algn="l" indent="0" marL="0">
              <a:buNone/>
            </a:pPr>
            <a:r>
              <a:rPr lang="en-US" sz="850" dirty="0">
                <a:solidFill>
                  <a:srgbClr val="5B6C77"/>
                </a:solidFill>
                <a:latin typeface="Courier New" pitchFamily="34" charset="0"/>
                <a:ea typeface="Courier New" pitchFamily="34" charset="-122"/>
                <a:cs typeface="Courier New" pitchFamily="34" charset="-120"/>
              </a:rPr>
              <a:t>read:assigned</a:t>
            </a:r>
            <a:endParaRPr lang="en-US" sz="850" dirty="0"/>
          </a:p>
        </p:txBody>
      </p:sp>
      <p:sp>
        <p:nvSpPr>
          <p:cNvPr id="29" name="Shape 22"/>
          <p:cNvSpPr/>
          <p:nvPr/>
        </p:nvSpPr>
        <p:spPr>
          <a:xfrm>
            <a:off x="6199632" y="2221992"/>
            <a:ext cx="2322576" cy="256032"/>
          </a:xfrm>
          <a:prstGeom prst="roundRect">
            <a:avLst>
              <a:gd name="adj" fmla="val 28571"/>
            </a:avLst>
          </a:prstGeom>
          <a:solidFill>
            <a:srgbClr val="13232E"/>
          </a:solidFill>
          <a:ln w="12700">
            <a:solidFill>
              <a:srgbClr val="13232E"/>
            </a:solidFill>
            <a:prstDash val="solid"/>
          </a:ln>
        </p:spPr>
      </p:sp>
      <p:sp>
        <p:nvSpPr>
          <p:cNvPr id="30" name="Text 23"/>
          <p:cNvSpPr txBox="1"/>
          <p:nvPr/>
        </p:nvSpPr>
        <p:spPr>
          <a:xfrm>
            <a:off x="6199632" y="2221992"/>
            <a:ext cx="2322576" cy="256032"/>
          </a:xfrm>
          <a:prstGeom prst="rect">
            <a:avLst/>
          </a:prstGeom>
          <a:noFill/>
          <a:ln/>
        </p:spPr>
        <p:txBody>
          <a:bodyPr wrap="square" lIns="0" tIns="0" rIns="0" bIns="0" rtlCol="0" anchor="ctr"/>
          <a:lstStyle/>
          <a:p>
            <a:pPr algn="ctr" indent="0" marL="0">
              <a:buNone/>
            </a:pPr>
            <a:r>
              <a:rPr lang="en-US" sz="1000" dirty="0">
                <a:solidFill>
                  <a:srgbClr val="E4ECEF"/>
                </a:solidFill>
                <a:latin typeface="Courier New" pitchFamily="34" charset="0"/>
                <a:ea typeface="Courier New" pitchFamily="34" charset="-122"/>
                <a:cs typeface="Courier New" pitchFamily="34" charset="-120"/>
              </a:rPr>
              <a:t>{ assignedUsers }</a:t>
            </a:r>
            <a:endParaRPr lang="en-US" sz="1000" dirty="0"/>
          </a:p>
        </p:txBody>
      </p:sp>
      <p:sp>
        <p:nvSpPr>
          <p:cNvPr id="31" name="Shape 24"/>
          <p:cNvSpPr/>
          <p:nvPr/>
        </p:nvSpPr>
        <p:spPr>
          <a:xfrm>
            <a:off x="457200" y="2724912"/>
            <a:ext cx="5257800" cy="1892808"/>
          </a:xfrm>
          <a:prstGeom prst="roundRect">
            <a:avLst>
              <a:gd name="adj" fmla="val 5797"/>
            </a:avLst>
          </a:prstGeom>
          <a:solidFill>
            <a:srgbClr val="13232E"/>
          </a:solidFill>
          <a:ln w="12700">
            <a:solidFill>
              <a:srgbClr val="13232E"/>
            </a:solidFill>
            <a:prstDash val="solid"/>
          </a:ln>
        </p:spPr>
      </p:sp>
      <p:sp>
        <p:nvSpPr>
          <p:cNvPr id="32" name="Text 25"/>
          <p:cNvSpPr txBox="1"/>
          <p:nvPr/>
        </p:nvSpPr>
        <p:spPr>
          <a:xfrm>
            <a:off x="621792" y="2852928"/>
            <a:ext cx="4928616" cy="1636776"/>
          </a:xfrm>
          <a:prstGeom prst="rect">
            <a:avLst/>
          </a:prstGeom>
          <a:noFill/>
          <a:ln/>
        </p:spPr>
        <p:txBody>
          <a:bodyPr wrap="square" lIns="0" tIns="0" rIns="0" bIns="0" rtlCol="0" anchor="t"/>
          <a:lstStyle/>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function buildProjectFilter(user)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switch (user.role.toLowerCase())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case 'admin':   return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case 'manager': return { department: user.department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default:        return { assignedUsers: user._id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router.get('/', protect, authorize('admin','manager','viewer'),</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async (req, res) =&gt;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const projects = await Project.find(buildProjectFilter(req.user));</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res.json({ count: projects.length, projects });</a:t>
            </a:r>
            <a:endParaRPr lang="en-US" sz="850" dirty="0"/>
          </a:p>
          <a:p>
            <a:pPr algn="l" indent="0" marL="0">
              <a:buNone/>
            </a:pPr>
            <a:r>
              <a:rPr lang="en-US" altLang="en-US" sz="850" dirty="0">
                <a:solidFill>
                  <a:srgbClr val="E4ECEF"/>
                </a:solidFill>
                <a:latin typeface="Courier New" pitchFamily="34" charset="0"/>
                <a:ea typeface="Courier New" pitchFamily="34" charset="-122"/>
                <a:cs typeface="Courier New" pitchFamily="34" charset="-120"/>
              </a:rPr>
              <a:t>  });</a:t>
            </a:r>
            <a:endParaRPr lang="en-US" sz="850" dirty="0"/>
          </a:p>
        </p:txBody>
      </p:sp>
      <p:sp>
        <p:nvSpPr>
          <p:cNvPr id="33" name="Shape 26"/>
          <p:cNvSpPr/>
          <p:nvPr/>
        </p:nvSpPr>
        <p:spPr>
          <a:xfrm>
            <a:off x="5897880" y="2724912"/>
            <a:ext cx="2788920" cy="1892808"/>
          </a:xfrm>
          <a:prstGeom prst="roundRect">
            <a:avLst>
              <a:gd name="adj" fmla="val 4831"/>
            </a:avLst>
          </a:prstGeom>
          <a:solidFill>
            <a:srgbClr val="0E2230"/>
          </a:solidFill>
          <a:ln w="12700">
            <a:solidFill>
              <a:srgbClr val="0E2230"/>
            </a:solidFill>
            <a:prstDash val="solid"/>
          </a:ln>
        </p:spPr>
      </p:sp>
      <p:sp>
        <p:nvSpPr>
          <p:cNvPr id="34" name="Text 27"/>
          <p:cNvSpPr txBox="1"/>
          <p:nvPr/>
        </p:nvSpPr>
        <p:spPr>
          <a:xfrm>
            <a:off x="6080760" y="2834640"/>
            <a:ext cx="2423160" cy="256032"/>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F2A93B"/>
                </a:solidFill>
                <a:latin typeface="Arial" pitchFamily="34" charset="0"/>
                <a:ea typeface="Arial" pitchFamily="34" charset="-122"/>
                <a:cs typeface="Arial" pitchFamily="34" charset="-120"/>
              </a:rPr>
              <a:t>RBAC service</a:t>
            </a:r>
            <a:endParaRPr lang="en-US" sz="1300" dirty="0"/>
          </a:p>
        </p:txBody>
      </p:sp>
      <p:sp>
        <p:nvSpPr>
          <p:cNvPr id="35" name="Text 28"/>
          <p:cNvSpPr txBox="1"/>
          <p:nvPr/>
        </p:nvSpPr>
        <p:spPr>
          <a:xfrm>
            <a:off x="6080760" y="3154680"/>
            <a:ext cx="2423160" cy="1417320"/>
          </a:xfrm>
          <a:prstGeom prst="rect">
            <a:avLst/>
          </a:prstGeom>
          <a:noFill/>
          <a:ln/>
        </p:spPr>
        <p:txBody>
          <a:bodyPr wrap="square" lIns="0" tIns="0" rIns="0" bIns="0" rtlCol="0" anchor="t"/>
          <a:lstStyle/>
          <a:p>
            <a:pPr algn="l" indent="0" marL="0">
              <a:lnSpc>
                <a:spcPct val="100000"/>
              </a:lnSpc>
              <a:spcAft>
                <a:spcPts val="400"/>
              </a:spcAft>
              <a:buNone/>
            </a:pPr>
            <a:r>
              <a:rPr lang="en-US" altLang="en-US" sz="1000" dirty="0">
                <a:solidFill>
                  <a:srgbClr val="FFFFFF"/>
                </a:solidFill>
                <a:latin typeface="Arial" pitchFamily="34" charset="0"/>
                <a:ea typeface="Arial" pitchFamily="34" charset="-122"/>
                <a:cs typeface="Arial" pitchFamily="34" charset="-120"/>
              </a:rPr>
              <a:t>Seeds default roles and permissions at startup</a:t>
            </a:r>
            <a:endParaRPr lang="en-US" sz="1000" dirty="0"/>
          </a:p>
          <a:p>
            <a:pPr algn="l" indent="0" marL="0">
              <a:lnSpc>
                <a:spcPct val="100000"/>
              </a:lnSpc>
              <a:spcAft>
                <a:spcPts val="400"/>
              </a:spcAft>
              <a:buNone/>
            </a:pPr>
            <a:r>
              <a:rPr lang="en-US" altLang="en-US" sz="1000" dirty="0">
                <a:solidFill>
                  <a:srgbClr val="FFFFFF"/>
                </a:solidFill>
                <a:latin typeface="Arial" pitchFamily="34" charset="0"/>
                <a:ea typeface="Arial" pitchFamily="34" charset="-122"/>
                <a:cs typeface="Arial" pitchFamily="34" charset="-120"/>
              </a:rPr>
              <a:t>Checks whether a role has a permission</a:t>
            </a:r>
            <a:endParaRPr lang="en-US" sz="1000" dirty="0"/>
          </a:p>
          <a:p>
            <a:pPr algn="l" indent="0" marL="0">
              <a:lnSpc>
                <a:spcPct val="100000"/>
              </a:lnSpc>
              <a:spcAft>
                <a:spcPts val="400"/>
              </a:spcAft>
              <a:buNone/>
            </a:pPr>
            <a:r>
              <a:rPr lang="en-US" altLang="en-US" sz="1000" dirty="0">
                <a:solidFill>
                  <a:srgbClr val="FFFFFF"/>
                </a:solidFill>
                <a:latin typeface="Arial" pitchFamily="34" charset="0"/>
                <a:ea typeface="Arial" pitchFamily="34" charset="-122"/>
                <a:cs typeface="Arial" pitchFamily="34" charset="-120"/>
              </a:rPr>
              <a:t>Rejects duplicate roles or permissions</a:t>
            </a:r>
            <a:endParaRPr lang="en-US" sz="1000" dirty="0"/>
          </a:p>
          <a:p>
            <a:pPr algn="l" indent="0" marL="0">
              <a:lnSpc>
                <a:spcPct val="100000"/>
              </a:lnSpc>
              <a:spcAft>
                <a:spcPts val="400"/>
              </a:spcAft>
              <a:buNone/>
            </a:pPr>
            <a:r>
              <a:rPr lang="en-US" altLang="en-US" sz="1000" dirty="0">
                <a:solidFill>
                  <a:srgbClr val="FFFFFF"/>
                </a:solidFill>
                <a:latin typeface="Arial" pitchFamily="34" charset="0"/>
                <a:ea typeface="Arial" pitchFamily="34" charset="-122"/>
                <a:cs typeface="Arial" pitchFamily="34" charset="-120"/>
              </a:rPr>
              <a:t>Unknown role gets the narrowest access (least privilege)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Validation &amp; Error Handling</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5 / 8</a:t>
            </a:r>
            <a:endParaRPr lang="en-US" sz="900" dirty="0"/>
          </a:p>
        </p:txBody>
      </p:sp>
      <p:sp>
        <p:nvSpPr>
          <p:cNvPr id="7" name="Shape 3"/>
          <p:cNvSpPr/>
          <p:nvPr/>
        </p:nvSpPr>
        <p:spPr>
          <a:xfrm>
            <a:off x="457200" y="1170432"/>
            <a:ext cx="8229600" cy="384048"/>
          </a:xfrm>
          <a:prstGeom prst="roundRect">
            <a:avLst>
              <a:gd name="adj" fmla="val 19048"/>
            </a:avLst>
          </a:prstGeom>
          <a:solidFill>
            <a:srgbClr val="0E2230"/>
          </a:solidFill>
          <a:ln w="12700">
            <a:solidFill>
              <a:srgbClr val="0E2230"/>
            </a:solidFill>
            <a:prstDash val="solid"/>
          </a:ln>
        </p:spPr>
      </p:sp>
      <p:sp>
        <p:nvSpPr>
          <p:cNvPr id="8" name="Text 4"/>
          <p:cNvSpPr txBox="1"/>
          <p:nvPr/>
        </p:nvSpPr>
        <p:spPr>
          <a:xfrm>
            <a:off x="640080" y="1170432"/>
            <a:ext cx="3474720" cy="384048"/>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FFFFFF"/>
                </a:solidFill>
                <a:latin typeface="Arial" pitchFamily="34" charset="0"/>
                <a:ea typeface="Arial" pitchFamily="34" charset="-122"/>
                <a:cs typeface="Arial" pitchFamily="34" charset="-120"/>
              </a:rPr>
              <a:t>Case</a:t>
            </a:r>
            <a:endParaRPr lang="en-US" sz="1200" dirty="0"/>
          </a:p>
        </p:txBody>
      </p:sp>
      <p:sp>
        <p:nvSpPr>
          <p:cNvPr id="9" name="Text 5"/>
          <p:cNvSpPr txBox="1"/>
          <p:nvPr/>
        </p:nvSpPr>
        <p:spPr>
          <a:xfrm>
            <a:off x="4206240" y="1170432"/>
            <a:ext cx="914400" cy="384048"/>
          </a:xfrm>
          <a:prstGeom prst="rect">
            <a:avLst/>
          </a:prstGeom>
          <a:noFill/>
          <a:ln/>
        </p:spPr>
        <p:txBody>
          <a:bodyPr wrap="square" lIns="0" tIns="0" rIns="0" bIns="0" rtlCol="0" anchor="ctr"/>
          <a:lstStyle/>
          <a:p>
            <a:pPr algn="ctr" indent="0" marL="0">
              <a:lnSpc>
                <a:spcPct val="100000"/>
              </a:lnSpc>
              <a:buNone/>
            </a:pPr>
            <a:r>
              <a:rPr lang="en-US" altLang="en-US" sz="1200" b="1" dirty="0">
                <a:solidFill>
                  <a:srgbClr val="FFFFFF"/>
                </a:solidFill>
                <a:latin typeface="Arial" pitchFamily="34" charset="0"/>
                <a:ea typeface="Arial" pitchFamily="34" charset="-122"/>
                <a:cs typeface="Arial" pitchFamily="34" charset="-120"/>
              </a:rPr>
              <a:t>Status</a:t>
            </a:r>
            <a:endParaRPr lang="en-US" sz="1200" dirty="0"/>
          </a:p>
        </p:txBody>
      </p:sp>
      <p:sp>
        <p:nvSpPr>
          <p:cNvPr id="10" name="Text 6"/>
          <p:cNvSpPr txBox="1"/>
          <p:nvPr/>
        </p:nvSpPr>
        <p:spPr>
          <a:xfrm>
            <a:off x="5349240" y="1170432"/>
            <a:ext cx="3200400" cy="384048"/>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FFFFFF"/>
                </a:solidFill>
                <a:latin typeface="Arial" pitchFamily="34" charset="0"/>
                <a:ea typeface="Arial" pitchFamily="34" charset="-122"/>
                <a:cs typeface="Arial" pitchFamily="34" charset="-120"/>
              </a:rPr>
              <a:t>Response</a:t>
            </a:r>
            <a:endParaRPr lang="en-US" sz="1200" dirty="0"/>
          </a:p>
        </p:txBody>
      </p:sp>
      <p:sp>
        <p:nvSpPr>
          <p:cNvPr id="11" name="Shape 7"/>
          <p:cNvSpPr/>
          <p:nvPr/>
        </p:nvSpPr>
        <p:spPr>
          <a:xfrm>
            <a:off x="457200" y="1627632"/>
            <a:ext cx="8229600" cy="420624"/>
          </a:xfrm>
          <a:prstGeom prst="roundRect">
            <a:avLst>
              <a:gd name="adj" fmla="val 13043"/>
            </a:avLst>
          </a:prstGeom>
          <a:solidFill>
            <a:srgbClr val="FFFFFF"/>
          </a:solidFill>
          <a:ln w="12700">
            <a:solidFill>
              <a:srgbClr val="FFFFFF"/>
            </a:solidFill>
            <a:prstDash val="solid"/>
          </a:ln>
        </p:spPr>
      </p:sp>
      <p:sp>
        <p:nvSpPr>
          <p:cNvPr id="12" name="Text 8"/>
          <p:cNvSpPr txBox="1"/>
          <p:nvPr/>
        </p:nvSpPr>
        <p:spPr>
          <a:xfrm>
            <a:off x="640080" y="1627632"/>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Missing token</a:t>
            </a:r>
            <a:endParaRPr lang="en-US" sz="1200" dirty="0"/>
          </a:p>
        </p:txBody>
      </p:sp>
      <p:sp>
        <p:nvSpPr>
          <p:cNvPr id="13" name="Shape 9"/>
          <p:cNvSpPr/>
          <p:nvPr/>
        </p:nvSpPr>
        <p:spPr>
          <a:xfrm>
            <a:off x="4434840" y="1700784"/>
            <a:ext cx="457200" cy="274320"/>
          </a:xfrm>
          <a:prstGeom prst="roundRect">
            <a:avLst>
              <a:gd name="adj" fmla="val 40000"/>
            </a:avLst>
          </a:prstGeom>
          <a:solidFill>
            <a:srgbClr val="F2A93B"/>
          </a:solidFill>
          <a:ln w="12700">
            <a:solidFill>
              <a:srgbClr val="F2A93B"/>
            </a:solidFill>
            <a:prstDash val="solid"/>
          </a:ln>
        </p:spPr>
      </p:sp>
      <p:sp>
        <p:nvSpPr>
          <p:cNvPr id="14" name="Text 10"/>
          <p:cNvSpPr txBox="1"/>
          <p:nvPr/>
        </p:nvSpPr>
        <p:spPr>
          <a:xfrm>
            <a:off x="4434840" y="1700784"/>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0E2230"/>
                </a:solidFill>
                <a:latin typeface="Arial" pitchFamily="34" charset="0"/>
                <a:ea typeface="Arial" pitchFamily="34" charset="-122"/>
                <a:cs typeface="Arial" pitchFamily="34" charset="-120"/>
              </a:rPr>
              <a:t>401</a:t>
            </a:r>
            <a:endParaRPr lang="en-US" sz="1100" dirty="0"/>
          </a:p>
        </p:txBody>
      </p:sp>
      <p:sp>
        <p:nvSpPr>
          <p:cNvPr id="15" name="Text 11"/>
          <p:cNvSpPr txBox="1"/>
          <p:nvPr/>
        </p:nvSpPr>
        <p:spPr>
          <a:xfrm>
            <a:off x="5349240" y="1627632"/>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Not authorized, no token</a:t>
            </a:r>
            <a:endParaRPr lang="en-US" sz="1150" dirty="0"/>
          </a:p>
        </p:txBody>
      </p:sp>
      <p:sp>
        <p:nvSpPr>
          <p:cNvPr id="16" name="Shape 12"/>
          <p:cNvSpPr/>
          <p:nvPr/>
        </p:nvSpPr>
        <p:spPr>
          <a:xfrm>
            <a:off x="457200" y="2103120"/>
            <a:ext cx="8229600" cy="420624"/>
          </a:xfrm>
          <a:prstGeom prst="roundRect">
            <a:avLst>
              <a:gd name="adj" fmla="val 13043"/>
            </a:avLst>
          </a:prstGeom>
          <a:solidFill>
            <a:srgbClr val="E9EFF1"/>
          </a:solidFill>
          <a:ln w="12700">
            <a:solidFill>
              <a:srgbClr val="E9EFF1"/>
            </a:solidFill>
            <a:prstDash val="solid"/>
          </a:ln>
        </p:spPr>
      </p:sp>
      <p:sp>
        <p:nvSpPr>
          <p:cNvPr id="17" name="Text 13"/>
          <p:cNvSpPr txBox="1"/>
          <p:nvPr/>
        </p:nvSpPr>
        <p:spPr>
          <a:xfrm>
            <a:off x="640080" y="2103120"/>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Invalid or expired token</a:t>
            </a:r>
            <a:endParaRPr lang="en-US" sz="1200" dirty="0"/>
          </a:p>
        </p:txBody>
      </p:sp>
      <p:sp>
        <p:nvSpPr>
          <p:cNvPr id="18" name="Shape 14"/>
          <p:cNvSpPr/>
          <p:nvPr/>
        </p:nvSpPr>
        <p:spPr>
          <a:xfrm>
            <a:off x="4434840" y="2176272"/>
            <a:ext cx="457200" cy="274320"/>
          </a:xfrm>
          <a:prstGeom prst="roundRect">
            <a:avLst>
              <a:gd name="adj" fmla="val 40000"/>
            </a:avLst>
          </a:prstGeom>
          <a:solidFill>
            <a:srgbClr val="F2A93B"/>
          </a:solidFill>
          <a:ln w="12700">
            <a:solidFill>
              <a:srgbClr val="F2A93B"/>
            </a:solidFill>
            <a:prstDash val="solid"/>
          </a:ln>
        </p:spPr>
      </p:sp>
      <p:sp>
        <p:nvSpPr>
          <p:cNvPr id="19" name="Text 15"/>
          <p:cNvSpPr txBox="1"/>
          <p:nvPr/>
        </p:nvSpPr>
        <p:spPr>
          <a:xfrm>
            <a:off x="4434840" y="2176272"/>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0E2230"/>
                </a:solidFill>
                <a:latin typeface="Arial" pitchFamily="34" charset="0"/>
                <a:ea typeface="Arial" pitchFamily="34" charset="-122"/>
                <a:cs typeface="Arial" pitchFamily="34" charset="-120"/>
              </a:rPr>
              <a:t>401</a:t>
            </a:r>
            <a:endParaRPr lang="en-US" sz="1100" dirty="0"/>
          </a:p>
        </p:txBody>
      </p:sp>
      <p:sp>
        <p:nvSpPr>
          <p:cNvPr id="20" name="Text 16"/>
          <p:cNvSpPr txBox="1"/>
          <p:nvPr/>
        </p:nvSpPr>
        <p:spPr>
          <a:xfrm>
            <a:off x="5349240" y="2103120"/>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Invalid or expired token</a:t>
            </a:r>
            <a:endParaRPr lang="en-US" sz="1150" dirty="0"/>
          </a:p>
        </p:txBody>
      </p:sp>
      <p:sp>
        <p:nvSpPr>
          <p:cNvPr id="21" name="Shape 17"/>
          <p:cNvSpPr/>
          <p:nvPr/>
        </p:nvSpPr>
        <p:spPr>
          <a:xfrm>
            <a:off x="457200" y="2578608"/>
            <a:ext cx="8229600" cy="420624"/>
          </a:xfrm>
          <a:prstGeom prst="roundRect">
            <a:avLst>
              <a:gd name="adj" fmla="val 13043"/>
            </a:avLst>
          </a:prstGeom>
          <a:solidFill>
            <a:srgbClr val="FFFFFF"/>
          </a:solidFill>
          <a:ln w="12700">
            <a:solidFill>
              <a:srgbClr val="FFFFFF"/>
            </a:solidFill>
            <a:prstDash val="solid"/>
          </a:ln>
        </p:spPr>
      </p:sp>
      <p:sp>
        <p:nvSpPr>
          <p:cNvPr id="22" name="Text 18"/>
          <p:cNvSpPr txBox="1"/>
          <p:nvPr/>
        </p:nvSpPr>
        <p:spPr>
          <a:xfrm>
            <a:off x="640080" y="2578608"/>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Unauthorized role</a:t>
            </a:r>
            <a:endParaRPr lang="en-US" sz="1200" dirty="0"/>
          </a:p>
        </p:txBody>
      </p:sp>
      <p:sp>
        <p:nvSpPr>
          <p:cNvPr id="23" name="Shape 19"/>
          <p:cNvSpPr/>
          <p:nvPr/>
        </p:nvSpPr>
        <p:spPr>
          <a:xfrm>
            <a:off x="4434840" y="2651760"/>
            <a:ext cx="457200" cy="274320"/>
          </a:xfrm>
          <a:prstGeom prst="roundRect">
            <a:avLst>
              <a:gd name="adj" fmla="val 40000"/>
            </a:avLst>
          </a:prstGeom>
          <a:solidFill>
            <a:srgbClr val="F2A93B"/>
          </a:solidFill>
          <a:ln w="12700">
            <a:solidFill>
              <a:srgbClr val="F2A93B"/>
            </a:solidFill>
            <a:prstDash val="solid"/>
          </a:ln>
        </p:spPr>
      </p:sp>
      <p:sp>
        <p:nvSpPr>
          <p:cNvPr id="24" name="Text 20"/>
          <p:cNvSpPr txBox="1"/>
          <p:nvPr/>
        </p:nvSpPr>
        <p:spPr>
          <a:xfrm>
            <a:off x="4434840" y="2651760"/>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0E2230"/>
                </a:solidFill>
                <a:latin typeface="Arial" pitchFamily="34" charset="0"/>
                <a:ea typeface="Arial" pitchFamily="34" charset="-122"/>
                <a:cs typeface="Arial" pitchFamily="34" charset="-120"/>
              </a:rPr>
              <a:t>403</a:t>
            </a:r>
            <a:endParaRPr lang="en-US" sz="1100" dirty="0"/>
          </a:p>
        </p:txBody>
      </p:sp>
      <p:sp>
        <p:nvSpPr>
          <p:cNvPr id="25" name="Text 21"/>
          <p:cNvSpPr txBox="1"/>
          <p:nvPr/>
        </p:nvSpPr>
        <p:spPr>
          <a:xfrm>
            <a:off x="5349240" y="2578608"/>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Forbidden: insufficient role</a:t>
            </a:r>
            <a:endParaRPr lang="en-US" sz="1150" dirty="0"/>
          </a:p>
        </p:txBody>
      </p:sp>
      <p:sp>
        <p:nvSpPr>
          <p:cNvPr id="26" name="Shape 22"/>
          <p:cNvSpPr/>
          <p:nvPr/>
        </p:nvSpPr>
        <p:spPr>
          <a:xfrm>
            <a:off x="457200" y="3054096"/>
            <a:ext cx="8229600" cy="420624"/>
          </a:xfrm>
          <a:prstGeom prst="roundRect">
            <a:avLst>
              <a:gd name="adj" fmla="val 13043"/>
            </a:avLst>
          </a:prstGeom>
          <a:solidFill>
            <a:srgbClr val="E9EFF1"/>
          </a:solidFill>
          <a:ln w="12700">
            <a:solidFill>
              <a:srgbClr val="E9EFF1"/>
            </a:solidFill>
            <a:prstDash val="solid"/>
          </a:ln>
        </p:spPr>
      </p:sp>
      <p:sp>
        <p:nvSpPr>
          <p:cNvPr id="27" name="Text 23"/>
          <p:cNvSpPr txBox="1"/>
          <p:nvPr/>
        </p:nvSpPr>
        <p:spPr>
          <a:xfrm>
            <a:off x="640080" y="3054096"/>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Missing required fields</a:t>
            </a:r>
            <a:endParaRPr lang="en-US" sz="1200" dirty="0"/>
          </a:p>
        </p:txBody>
      </p:sp>
      <p:sp>
        <p:nvSpPr>
          <p:cNvPr id="28" name="Shape 24"/>
          <p:cNvSpPr/>
          <p:nvPr/>
        </p:nvSpPr>
        <p:spPr>
          <a:xfrm>
            <a:off x="4434840" y="3127248"/>
            <a:ext cx="457200" cy="274320"/>
          </a:xfrm>
          <a:prstGeom prst="roundRect">
            <a:avLst>
              <a:gd name="adj" fmla="val 40000"/>
            </a:avLst>
          </a:prstGeom>
          <a:solidFill>
            <a:srgbClr val="1B9C8C"/>
          </a:solidFill>
          <a:ln w="12700">
            <a:solidFill>
              <a:srgbClr val="1B9C8C"/>
            </a:solidFill>
            <a:prstDash val="solid"/>
          </a:ln>
        </p:spPr>
      </p:sp>
      <p:sp>
        <p:nvSpPr>
          <p:cNvPr id="29" name="Text 25"/>
          <p:cNvSpPr txBox="1"/>
          <p:nvPr/>
        </p:nvSpPr>
        <p:spPr>
          <a:xfrm>
            <a:off x="4434840" y="3127248"/>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FFFFFF"/>
                </a:solidFill>
                <a:latin typeface="Arial" pitchFamily="34" charset="0"/>
                <a:ea typeface="Arial" pitchFamily="34" charset="-122"/>
                <a:cs typeface="Arial" pitchFamily="34" charset="-120"/>
              </a:rPr>
              <a:t>400</a:t>
            </a:r>
            <a:endParaRPr lang="en-US" sz="1100" dirty="0"/>
          </a:p>
        </p:txBody>
      </p:sp>
      <p:sp>
        <p:nvSpPr>
          <p:cNvPr id="30" name="Text 26"/>
          <p:cNvSpPr txBox="1"/>
          <p:nvPr/>
        </p:nvSpPr>
        <p:spPr>
          <a:xfrm>
            <a:off x="5349240" y="3054096"/>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Validation error with field details</a:t>
            </a:r>
            <a:endParaRPr lang="en-US" sz="1150" dirty="0"/>
          </a:p>
        </p:txBody>
      </p:sp>
      <p:sp>
        <p:nvSpPr>
          <p:cNvPr id="31" name="Shape 27"/>
          <p:cNvSpPr/>
          <p:nvPr/>
        </p:nvSpPr>
        <p:spPr>
          <a:xfrm>
            <a:off x="457200" y="3529584"/>
            <a:ext cx="8229600" cy="420624"/>
          </a:xfrm>
          <a:prstGeom prst="roundRect">
            <a:avLst>
              <a:gd name="adj" fmla="val 13043"/>
            </a:avLst>
          </a:prstGeom>
          <a:solidFill>
            <a:srgbClr val="FFFFFF"/>
          </a:solidFill>
          <a:ln w="12700">
            <a:solidFill>
              <a:srgbClr val="FFFFFF"/>
            </a:solidFill>
            <a:prstDash val="solid"/>
          </a:ln>
        </p:spPr>
      </p:sp>
      <p:sp>
        <p:nvSpPr>
          <p:cNvPr id="32" name="Text 28"/>
          <p:cNvSpPr txBox="1"/>
          <p:nvPr/>
        </p:nvSpPr>
        <p:spPr>
          <a:xfrm>
            <a:off x="640080" y="3529584"/>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Duplicate role / permission</a:t>
            </a:r>
            <a:endParaRPr lang="en-US" sz="1200" dirty="0"/>
          </a:p>
        </p:txBody>
      </p:sp>
      <p:sp>
        <p:nvSpPr>
          <p:cNvPr id="33" name="Shape 29"/>
          <p:cNvSpPr/>
          <p:nvPr/>
        </p:nvSpPr>
        <p:spPr>
          <a:xfrm>
            <a:off x="4434840" y="3602736"/>
            <a:ext cx="457200" cy="274320"/>
          </a:xfrm>
          <a:prstGeom prst="roundRect">
            <a:avLst>
              <a:gd name="adj" fmla="val 40000"/>
            </a:avLst>
          </a:prstGeom>
          <a:solidFill>
            <a:srgbClr val="1B9C8C"/>
          </a:solidFill>
          <a:ln w="12700">
            <a:solidFill>
              <a:srgbClr val="1B9C8C"/>
            </a:solidFill>
            <a:prstDash val="solid"/>
          </a:ln>
        </p:spPr>
      </p:sp>
      <p:sp>
        <p:nvSpPr>
          <p:cNvPr id="34" name="Text 30"/>
          <p:cNvSpPr txBox="1"/>
          <p:nvPr/>
        </p:nvSpPr>
        <p:spPr>
          <a:xfrm>
            <a:off x="4434840" y="3602736"/>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FFFFFF"/>
                </a:solidFill>
                <a:latin typeface="Arial" pitchFamily="34" charset="0"/>
                <a:ea typeface="Arial" pitchFamily="34" charset="-122"/>
                <a:cs typeface="Arial" pitchFamily="34" charset="-120"/>
              </a:rPr>
              <a:t>409</a:t>
            </a:r>
            <a:endParaRPr lang="en-US" sz="1100" dirty="0"/>
          </a:p>
        </p:txBody>
      </p:sp>
      <p:sp>
        <p:nvSpPr>
          <p:cNvPr id="35" name="Text 31"/>
          <p:cNvSpPr txBox="1"/>
          <p:nvPr/>
        </p:nvSpPr>
        <p:spPr>
          <a:xfrm>
            <a:off x="5349240" y="3529584"/>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Rejected (safely skipped when seeding)</a:t>
            </a:r>
            <a:endParaRPr lang="en-US" sz="1150" dirty="0"/>
          </a:p>
        </p:txBody>
      </p:sp>
      <p:sp>
        <p:nvSpPr>
          <p:cNvPr id="36" name="Shape 32"/>
          <p:cNvSpPr/>
          <p:nvPr/>
        </p:nvSpPr>
        <p:spPr>
          <a:xfrm>
            <a:off x="457200" y="4005072"/>
            <a:ext cx="8229600" cy="420624"/>
          </a:xfrm>
          <a:prstGeom prst="roundRect">
            <a:avLst>
              <a:gd name="adj" fmla="val 13043"/>
            </a:avLst>
          </a:prstGeom>
          <a:solidFill>
            <a:srgbClr val="E9EFF1"/>
          </a:solidFill>
          <a:ln w="12700">
            <a:solidFill>
              <a:srgbClr val="E9EFF1"/>
            </a:solidFill>
            <a:prstDash val="solid"/>
          </a:ln>
        </p:spPr>
      </p:sp>
      <p:sp>
        <p:nvSpPr>
          <p:cNvPr id="37" name="Text 33"/>
          <p:cNvSpPr txBox="1"/>
          <p:nvPr/>
        </p:nvSpPr>
        <p:spPr>
          <a:xfrm>
            <a:off x="640080" y="4005072"/>
            <a:ext cx="3474720" cy="420624"/>
          </a:xfrm>
          <a:prstGeom prst="rect">
            <a:avLst/>
          </a:prstGeom>
          <a:noFill/>
          <a:ln/>
        </p:spPr>
        <p:txBody>
          <a:bodyPr wrap="square" lIns="0" tIns="0" rIns="0" bIns="0" rtlCol="0" anchor="ctr"/>
          <a:lstStyle/>
          <a:p>
            <a:pPr algn="l" indent="0" marL="0">
              <a:lnSpc>
                <a:spcPct val="100000"/>
              </a:lnSpc>
              <a:buNone/>
            </a:pPr>
            <a:r>
              <a:rPr lang="en-US" altLang="en-US" sz="1200" b="1" dirty="0">
                <a:solidFill>
                  <a:srgbClr val="0E2230"/>
                </a:solidFill>
                <a:latin typeface="Arial" pitchFamily="34" charset="0"/>
                <a:ea typeface="Arial" pitchFamily="34" charset="-122"/>
                <a:cs typeface="Arial" pitchFamily="34" charset="-120"/>
              </a:rPr>
              <a:t>Database error</a:t>
            </a:r>
            <a:endParaRPr lang="en-US" sz="1200" dirty="0"/>
          </a:p>
        </p:txBody>
      </p:sp>
      <p:sp>
        <p:nvSpPr>
          <p:cNvPr id="38" name="Shape 34"/>
          <p:cNvSpPr/>
          <p:nvPr/>
        </p:nvSpPr>
        <p:spPr>
          <a:xfrm>
            <a:off x="4434840" y="4078224"/>
            <a:ext cx="457200" cy="274320"/>
          </a:xfrm>
          <a:prstGeom prst="roundRect">
            <a:avLst>
              <a:gd name="adj" fmla="val 40000"/>
            </a:avLst>
          </a:prstGeom>
          <a:solidFill>
            <a:srgbClr val="C8553D"/>
          </a:solidFill>
          <a:ln w="12700">
            <a:solidFill>
              <a:srgbClr val="C8553D"/>
            </a:solidFill>
            <a:prstDash val="solid"/>
          </a:ln>
        </p:spPr>
      </p:sp>
      <p:sp>
        <p:nvSpPr>
          <p:cNvPr id="39" name="Text 35"/>
          <p:cNvSpPr txBox="1"/>
          <p:nvPr/>
        </p:nvSpPr>
        <p:spPr>
          <a:xfrm>
            <a:off x="4434840" y="4078224"/>
            <a:ext cx="457200" cy="274320"/>
          </a:xfrm>
          <a:prstGeom prst="rect">
            <a:avLst/>
          </a:prstGeom>
          <a:noFill/>
          <a:ln/>
        </p:spPr>
        <p:txBody>
          <a:bodyPr wrap="square" lIns="0" tIns="0" rIns="0" bIns="0" rtlCol="0" anchor="ctr"/>
          <a:lstStyle/>
          <a:p>
            <a:pPr algn="ctr" indent="0" marL="0">
              <a:lnSpc>
                <a:spcPct val="100000"/>
              </a:lnSpc>
              <a:buNone/>
            </a:pPr>
            <a:r>
              <a:rPr lang="en-US" altLang="en-US" sz="1100" b="1" dirty="0">
                <a:solidFill>
                  <a:srgbClr val="FFFFFF"/>
                </a:solidFill>
                <a:latin typeface="Arial" pitchFamily="34" charset="0"/>
                <a:ea typeface="Arial" pitchFamily="34" charset="-122"/>
                <a:cs typeface="Arial" pitchFamily="34" charset="-120"/>
              </a:rPr>
              <a:t>500</a:t>
            </a:r>
            <a:endParaRPr lang="en-US" sz="1100" dirty="0"/>
          </a:p>
        </p:txBody>
      </p:sp>
      <p:sp>
        <p:nvSpPr>
          <p:cNvPr id="40" name="Text 36"/>
          <p:cNvSpPr txBox="1"/>
          <p:nvPr/>
        </p:nvSpPr>
        <p:spPr>
          <a:xfrm>
            <a:off x="5349240" y="4005072"/>
            <a:ext cx="3200400" cy="420624"/>
          </a:xfrm>
          <a:prstGeom prst="rect">
            <a:avLst/>
          </a:prstGeom>
          <a:noFill/>
          <a:ln/>
        </p:spPr>
        <p:txBody>
          <a:bodyPr wrap="square" lIns="0" tIns="0" rIns="0" bIns="0" rtlCol="0" anchor="ctr"/>
          <a:lstStyle/>
          <a:p>
            <a:pPr algn="l" indent="0" marL="0">
              <a:lnSpc>
                <a:spcPct val="100000"/>
              </a:lnSpc>
              <a:buNone/>
            </a:pPr>
            <a:r>
              <a:rPr lang="en-US" altLang="en-US" sz="1150" dirty="0">
                <a:solidFill>
                  <a:srgbClr val="5B6C77"/>
                </a:solidFill>
                <a:latin typeface="Arial" pitchFamily="34" charset="0"/>
                <a:ea typeface="Arial" pitchFamily="34" charset="-122"/>
                <a:cs typeface="Arial" pitchFamily="34" charset="-120"/>
              </a:rPr>
              <a:t>Generic message, no internal details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Testing with Jest &amp; Supertest</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6 / 8</a:t>
            </a:r>
            <a:endParaRPr lang="en-US" sz="900" dirty="0"/>
          </a:p>
        </p:txBody>
      </p:sp>
      <p:sp>
        <p:nvSpPr>
          <p:cNvPr id="7" name="Shape 3"/>
          <p:cNvSpPr/>
          <p:nvPr/>
        </p:nvSpPr>
        <p:spPr>
          <a:xfrm>
            <a:off x="457200" y="1170432"/>
            <a:ext cx="402336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Shape 4"/>
          <p:cNvSpPr/>
          <p:nvPr/>
        </p:nvSpPr>
        <p:spPr>
          <a:xfrm>
            <a:off x="594360" y="1261872"/>
            <a:ext cx="411480" cy="411480"/>
          </a:xfrm>
          <a:prstGeom prst="ellipse">
            <a:avLst/>
          </a:prstGeom>
          <a:solidFill>
            <a:srgbClr val="1B9C8C"/>
          </a:solidFill>
          <a:ln w="12700">
            <a:solidFill>
              <a:srgbClr val="1B9C8C"/>
            </a:solidFill>
            <a:prstDash val="solid"/>
          </a:ln>
        </p:spPr>
      </p:sp>
      <p:pic>
        <p:nvPicPr>
          <p:cNvPr id="9" name="Image 1" descr="preencoded.png">    </p:cNvPr>
          <p:cNvPicPr>
            <a:picLocks noChangeAspect="1"/>
          </p:cNvPicPr>
          <p:nvPr/>
        </p:nvPicPr>
        <p:blipFill>
          <a:blip r:embed="rId2"/>
          <a:stretch>
            <a:fillRect/>
          </a:stretch>
        </p:blipFill>
        <p:spPr>
          <a:xfrm>
            <a:off x="697230" y="1364742"/>
            <a:ext cx="205740" cy="205740"/>
          </a:xfrm>
          <a:prstGeom prst="rect">
            <a:avLst/>
          </a:prstGeom>
        </p:spPr>
      </p:pic>
      <p:sp>
        <p:nvSpPr>
          <p:cNvPr id="10" name="Text 5"/>
          <p:cNvSpPr txBox="1"/>
          <p:nvPr/>
        </p:nvSpPr>
        <p:spPr>
          <a:xfrm>
            <a:off x="1143000" y="1170432"/>
            <a:ext cx="3200400" cy="594360"/>
          </a:xfrm>
          <a:prstGeom prst="rect">
            <a:avLst/>
          </a:prstGeom>
          <a:noFill/>
          <a:ln/>
        </p:spPr>
        <p:txBody>
          <a:bodyPr wrap="square" lIns="0" tIns="0" rIns="0" bIns="0" rtlCol="0" anchor="ctr"/>
          <a:lstStyle/>
          <a:p>
            <a:pPr algn="l" indent="0" marL="0">
              <a:lnSpc>
                <a:spcPct val="100000"/>
              </a:lnSpc>
              <a:buNone/>
            </a:pPr>
            <a:r>
              <a:rPr lang="en-US" altLang="en-US" sz="1150" dirty="0">
                <a:solidFill>
                  <a:srgbClr val="1A2B35"/>
                </a:solidFill>
                <a:latin typeface="Arial" pitchFamily="34" charset="0"/>
                <a:ea typeface="Arial" pitchFamily="34" charset="-122"/>
                <a:cs typeface="Arial" pitchFamily="34" charset="-120"/>
              </a:rPr>
              <a:t>Register and login, cookie is set</a:t>
            </a:r>
            <a:endParaRPr lang="en-US" sz="1150" dirty="0"/>
          </a:p>
        </p:txBody>
      </p:sp>
      <p:sp>
        <p:nvSpPr>
          <p:cNvPr id="11" name="Shape 6"/>
          <p:cNvSpPr/>
          <p:nvPr/>
        </p:nvSpPr>
        <p:spPr>
          <a:xfrm>
            <a:off x="457200" y="1856232"/>
            <a:ext cx="402336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2" name="Shape 7"/>
          <p:cNvSpPr/>
          <p:nvPr/>
        </p:nvSpPr>
        <p:spPr>
          <a:xfrm>
            <a:off x="594360" y="1947672"/>
            <a:ext cx="411480" cy="411480"/>
          </a:xfrm>
          <a:prstGeom prst="ellipse">
            <a:avLst/>
          </a:prstGeom>
          <a:solidFill>
            <a:srgbClr val="1B9C8C"/>
          </a:solidFill>
          <a:ln w="12700">
            <a:solidFill>
              <a:srgbClr val="1B9C8C"/>
            </a:solidFill>
            <a:prstDash val="solid"/>
          </a:ln>
        </p:spPr>
      </p:sp>
      <p:pic>
        <p:nvPicPr>
          <p:cNvPr id="13" name="Image 2" descr="preencoded.png">    </p:cNvPr>
          <p:cNvPicPr>
            <a:picLocks noChangeAspect="1"/>
          </p:cNvPicPr>
          <p:nvPr/>
        </p:nvPicPr>
        <p:blipFill>
          <a:blip r:embed="rId3"/>
          <a:stretch>
            <a:fillRect/>
          </a:stretch>
        </p:blipFill>
        <p:spPr>
          <a:xfrm>
            <a:off x="697230" y="2050542"/>
            <a:ext cx="205740" cy="205740"/>
          </a:xfrm>
          <a:prstGeom prst="rect">
            <a:avLst/>
          </a:prstGeom>
        </p:spPr>
      </p:pic>
      <p:sp>
        <p:nvSpPr>
          <p:cNvPr id="14" name="Text 8"/>
          <p:cNvSpPr txBox="1"/>
          <p:nvPr/>
        </p:nvSpPr>
        <p:spPr>
          <a:xfrm>
            <a:off x="1143000" y="1856232"/>
            <a:ext cx="3200400" cy="594360"/>
          </a:xfrm>
          <a:prstGeom prst="rect">
            <a:avLst/>
          </a:prstGeom>
          <a:noFill/>
          <a:ln/>
        </p:spPr>
        <p:txBody>
          <a:bodyPr wrap="square" lIns="0" tIns="0" rIns="0" bIns="0" rtlCol="0" anchor="ctr"/>
          <a:lstStyle/>
          <a:p>
            <a:pPr algn="l" indent="0" marL="0">
              <a:lnSpc>
                <a:spcPct val="100000"/>
              </a:lnSpc>
              <a:buNone/>
            </a:pPr>
            <a:r>
              <a:rPr lang="en-US" altLang="en-US" sz="1150" dirty="0">
                <a:solidFill>
                  <a:srgbClr val="1A2B35"/>
                </a:solidFill>
                <a:latin typeface="Arial" pitchFamily="34" charset="0"/>
                <a:ea typeface="Arial" pitchFamily="34" charset="-122"/>
                <a:cs typeface="Arial" pitchFamily="34" charset="-120"/>
              </a:rPr>
              <a:t>Admin sees all · Manager sees department · Viewer sees assigned</a:t>
            </a:r>
            <a:endParaRPr lang="en-US" sz="1150" dirty="0"/>
          </a:p>
        </p:txBody>
      </p:sp>
      <p:sp>
        <p:nvSpPr>
          <p:cNvPr id="15" name="Shape 9"/>
          <p:cNvSpPr/>
          <p:nvPr/>
        </p:nvSpPr>
        <p:spPr>
          <a:xfrm>
            <a:off x="457200" y="2542032"/>
            <a:ext cx="402336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6" name="Shape 10"/>
          <p:cNvSpPr/>
          <p:nvPr/>
        </p:nvSpPr>
        <p:spPr>
          <a:xfrm>
            <a:off x="594360" y="2633472"/>
            <a:ext cx="411480" cy="411480"/>
          </a:xfrm>
          <a:prstGeom prst="ellipse">
            <a:avLst/>
          </a:prstGeom>
          <a:solidFill>
            <a:srgbClr val="1B9C8C"/>
          </a:solidFill>
          <a:ln w="12700">
            <a:solidFill>
              <a:srgbClr val="1B9C8C"/>
            </a:solidFill>
            <a:prstDash val="solid"/>
          </a:ln>
        </p:spPr>
      </p:sp>
      <p:pic>
        <p:nvPicPr>
          <p:cNvPr id="17" name="Image 3" descr="preencoded.png">    </p:cNvPr>
          <p:cNvPicPr>
            <a:picLocks noChangeAspect="1"/>
          </p:cNvPicPr>
          <p:nvPr/>
        </p:nvPicPr>
        <p:blipFill>
          <a:blip r:embed="rId4"/>
          <a:stretch>
            <a:fillRect/>
          </a:stretch>
        </p:blipFill>
        <p:spPr>
          <a:xfrm>
            <a:off x="697230" y="2736342"/>
            <a:ext cx="205740" cy="205740"/>
          </a:xfrm>
          <a:prstGeom prst="rect">
            <a:avLst/>
          </a:prstGeom>
        </p:spPr>
      </p:pic>
      <p:sp>
        <p:nvSpPr>
          <p:cNvPr id="18" name="Text 11"/>
          <p:cNvSpPr txBox="1"/>
          <p:nvPr/>
        </p:nvSpPr>
        <p:spPr>
          <a:xfrm>
            <a:off x="1143000" y="2542032"/>
            <a:ext cx="3200400" cy="594360"/>
          </a:xfrm>
          <a:prstGeom prst="rect">
            <a:avLst/>
          </a:prstGeom>
          <a:noFill/>
          <a:ln/>
        </p:spPr>
        <p:txBody>
          <a:bodyPr wrap="square" lIns="0" tIns="0" rIns="0" bIns="0" rtlCol="0" anchor="ctr"/>
          <a:lstStyle/>
          <a:p>
            <a:pPr algn="l" indent="0" marL="0">
              <a:lnSpc>
                <a:spcPct val="100000"/>
              </a:lnSpc>
              <a:buNone/>
            </a:pPr>
            <a:r>
              <a:rPr lang="en-US" altLang="en-US" sz="1150" dirty="0">
                <a:solidFill>
                  <a:srgbClr val="1A2B35"/>
                </a:solidFill>
                <a:latin typeface="Arial" pitchFamily="34" charset="0"/>
                <a:ea typeface="Arial" pitchFamily="34" charset="-122"/>
                <a:cs typeface="Arial" pitchFamily="34" charset="-120"/>
              </a:rPr>
              <a:t>No token or tampered token returns 401</a:t>
            </a:r>
            <a:endParaRPr lang="en-US" sz="1150" dirty="0"/>
          </a:p>
        </p:txBody>
      </p:sp>
      <p:sp>
        <p:nvSpPr>
          <p:cNvPr id="19" name="Shape 12"/>
          <p:cNvSpPr/>
          <p:nvPr/>
        </p:nvSpPr>
        <p:spPr>
          <a:xfrm>
            <a:off x="457200" y="3227832"/>
            <a:ext cx="402336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Shape 13"/>
          <p:cNvSpPr/>
          <p:nvPr/>
        </p:nvSpPr>
        <p:spPr>
          <a:xfrm>
            <a:off x="594360" y="3319272"/>
            <a:ext cx="411480" cy="411480"/>
          </a:xfrm>
          <a:prstGeom prst="ellipse">
            <a:avLst/>
          </a:prstGeom>
          <a:solidFill>
            <a:srgbClr val="1B9C8C"/>
          </a:solidFill>
          <a:ln w="12700">
            <a:solidFill>
              <a:srgbClr val="1B9C8C"/>
            </a:solidFill>
            <a:prstDash val="solid"/>
          </a:ln>
        </p:spPr>
      </p:sp>
      <p:pic>
        <p:nvPicPr>
          <p:cNvPr id="21" name="Image 4" descr="preencoded.png">    </p:cNvPr>
          <p:cNvPicPr>
            <a:picLocks noChangeAspect="1"/>
          </p:cNvPicPr>
          <p:nvPr/>
        </p:nvPicPr>
        <p:blipFill>
          <a:blip r:embed="rId5"/>
          <a:stretch>
            <a:fillRect/>
          </a:stretch>
        </p:blipFill>
        <p:spPr>
          <a:xfrm>
            <a:off x="697230" y="3422142"/>
            <a:ext cx="205740" cy="205740"/>
          </a:xfrm>
          <a:prstGeom prst="rect">
            <a:avLst/>
          </a:prstGeom>
        </p:spPr>
      </p:pic>
      <p:sp>
        <p:nvSpPr>
          <p:cNvPr id="22" name="Text 14"/>
          <p:cNvSpPr txBox="1"/>
          <p:nvPr/>
        </p:nvSpPr>
        <p:spPr>
          <a:xfrm>
            <a:off x="1143000" y="3227832"/>
            <a:ext cx="3200400" cy="594360"/>
          </a:xfrm>
          <a:prstGeom prst="rect">
            <a:avLst/>
          </a:prstGeom>
          <a:noFill/>
          <a:ln/>
        </p:spPr>
        <p:txBody>
          <a:bodyPr wrap="square" lIns="0" tIns="0" rIns="0" bIns="0" rtlCol="0" anchor="ctr"/>
          <a:lstStyle/>
          <a:p>
            <a:pPr algn="l" indent="0" marL="0">
              <a:lnSpc>
                <a:spcPct val="100000"/>
              </a:lnSpc>
              <a:buNone/>
            </a:pPr>
            <a:r>
              <a:rPr lang="en-US" altLang="en-US" sz="1150" dirty="0">
                <a:solidFill>
                  <a:srgbClr val="1A2B35"/>
                </a:solidFill>
                <a:latin typeface="Arial" pitchFamily="34" charset="0"/>
                <a:ea typeface="Arial" pitchFamily="34" charset="-122"/>
                <a:cs typeface="Arial" pitchFamily="34" charset="-120"/>
              </a:rPr>
              <a:t>Unauthorized role returns 403</a:t>
            </a:r>
            <a:endParaRPr lang="en-US" sz="1150" dirty="0"/>
          </a:p>
        </p:txBody>
      </p:sp>
      <p:sp>
        <p:nvSpPr>
          <p:cNvPr id="23" name="Shape 15"/>
          <p:cNvSpPr/>
          <p:nvPr/>
        </p:nvSpPr>
        <p:spPr>
          <a:xfrm>
            <a:off x="457200" y="3913632"/>
            <a:ext cx="4023360" cy="594360"/>
          </a:xfrm>
          <a:prstGeom prst="roundRect">
            <a:avLst>
              <a:gd name="adj" fmla="val 1538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4" name="Shape 16"/>
          <p:cNvSpPr/>
          <p:nvPr/>
        </p:nvSpPr>
        <p:spPr>
          <a:xfrm>
            <a:off x="594360" y="4005072"/>
            <a:ext cx="411480" cy="411480"/>
          </a:xfrm>
          <a:prstGeom prst="ellipse">
            <a:avLst/>
          </a:prstGeom>
          <a:solidFill>
            <a:srgbClr val="1B9C8C"/>
          </a:solidFill>
          <a:ln w="12700">
            <a:solidFill>
              <a:srgbClr val="1B9C8C"/>
            </a:solidFill>
            <a:prstDash val="solid"/>
          </a:ln>
        </p:spPr>
      </p:sp>
      <p:pic>
        <p:nvPicPr>
          <p:cNvPr id="25" name="Image 5" descr="preencoded.png">    </p:cNvPr>
          <p:cNvPicPr>
            <a:picLocks noChangeAspect="1"/>
          </p:cNvPicPr>
          <p:nvPr/>
        </p:nvPicPr>
        <p:blipFill>
          <a:blip r:embed="rId6"/>
          <a:stretch>
            <a:fillRect/>
          </a:stretch>
        </p:blipFill>
        <p:spPr>
          <a:xfrm>
            <a:off x="697230" y="4107942"/>
            <a:ext cx="205740" cy="205740"/>
          </a:xfrm>
          <a:prstGeom prst="rect">
            <a:avLst/>
          </a:prstGeom>
        </p:spPr>
      </p:pic>
      <p:sp>
        <p:nvSpPr>
          <p:cNvPr id="26" name="Text 17"/>
          <p:cNvSpPr txBox="1"/>
          <p:nvPr/>
        </p:nvSpPr>
        <p:spPr>
          <a:xfrm>
            <a:off x="1143000" y="3913632"/>
            <a:ext cx="3200400" cy="594360"/>
          </a:xfrm>
          <a:prstGeom prst="rect">
            <a:avLst/>
          </a:prstGeom>
          <a:noFill/>
          <a:ln/>
        </p:spPr>
        <p:txBody>
          <a:bodyPr wrap="square" lIns="0" tIns="0" rIns="0" bIns="0" rtlCol="0" anchor="ctr"/>
          <a:lstStyle/>
          <a:p>
            <a:pPr algn="l" indent="0" marL="0">
              <a:lnSpc>
                <a:spcPct val="100000"/>
              </a:lnSpc>
              <a:buNone/>
            </a:pPr>
            <a:r>
              <a:rPr lang="en-US" altLang="en-US" sz="1150" dirty="0">
                <a:solidFill>
                  <a:srgbClr val="1A2B35"/>
                </a:solidFill>
                <a:latin typeface="Arial" pitchFamily="34" charset="0"/>
                <a:ea typeface="Arial" pitchFamily="34" charset="-122"/>
                <a:cs typeface="Arial" pitchFamily="34" charset="-120"/>
              </a:rPr>
              <a:t>Missing fields return 400</a:t>
            </a:r>
            <a:endParaRPr lang="en-US" sz="1150" dirty="0"/>
          </a:p>
        </p:txBody>
      </p:sp>
      <p:sp>
        <p:nvSpPr>
          <p:cNvPr id="27" name="Shape 18"/>
          <p:cNvSpPr/>
          <p:nvPr/>
        </p:nvSpPr>
        <p:spPr>
          <a:xfrm>
            <a:off x="4663440" y="1170432"/>
            <a:ext cx="4023360" cy="1554480"/>
          </a:xfrm>
          <a:prstGeom prst="roundRect">
            <a:avLst>
              <a:gd name="adj" fmla="val 7059"/>
            </a:avLst>
          </a:prstGeom>
          <a:solidFill>
            <a:srgbClr val="13232E"/>
          </a:solidFill>
          <a:ln w="12700">
            <a:solidFill>
              <a:srgbClr val="13232E"/>
            </a:solidFill>
            <a:prstDash val="solid"/>
          </a:ln>
        </p:spPr>
      </p:sp>
      <p:sp>
        <p:nvSpPr>
          <p:cNvPr id="28" name="Text 19"/>
          <p:cNvSpPr txBox="1"/>
          <p:nvPr/>
        </p:nvSpPr>
        <p:spPr>
          <a:xfrm>
            <a:off x="4828032" y="1298448"/>
            <a:ext cx="3694176" cy="1298448"/>
          </a:xfrm>
          <a:prstGeom prst="rect">
            <a:avLst/>
          </a:prstGeom>
          <a:noFill/>
          <a:ln/>
        </p:spPr>
        <p:txBody>
          <a:bodyPr wrap="square" lIns="0" tIns="0" rIns="0" bIns="0" rtlCol="0" anchor="t"/>
          <a:lstStyle/>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it('viewer sees only assigned', async () =&gt; {</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const res = await request(app)</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.get('/api/projects')</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.set('Cookie', viewerCookie);</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expect(res.status).toBe(200);</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a:t>
            </a:r>
            <a:endParaRPr lang="en-US" sz="1050" dirty="0"/>
          </a:p>
        </p:txBody>
      </p:sp>
      <p:sp>
        <p:nvSpPr>
          <p:cNvPr id="29" name="Shape 20"/>
          <p:cNvSpPr/>
          <p:nvPr/>
        </p:nvSpPr>
        <p:spPr>
          <a:xfrm>
            <a:off x="4663440" y="2907792"/>
            <a:ext cx="4023360" cy="1691640"/>
          </a:xfrm>
          <a:prstGeom prst="roundRect">
            <a:avLst>
              <a:gd name="adj" fmla="val 5405"/>
            </a:avLst>
          </a:prstGeom>
          <a:solidFill>
            <a:srgbClr val="0E2230"/>
          </a:solidFill>
          <a:ln w="12700">
            <a:solidFill>
              <a:srgbClr val="0E2230"/>
            </a:solidFill>
            <a:prstDash val="solid"/>
          </a:ln>
        </p:spPr>
      </p:sp>
      <p:sp>
        <p:nvSpPr>
          <p:cNvPr id="30" name="Text 21"/>
          <p:cNvSpPr txBox="1"/>
          <p:nvPr/>
        </p:nvSpPr>
        <p:spPr>
          <a:xfrm>
            <a:off x="4846320" y="3035808"/>
            <a:ext cx="3657600" cy="274320"/>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F2A93B"/>
                </a:solidFill>
                <a:latin typeface="Arial" pitchFamily="34" charset="0"/>
                <a:ea typeface="Arial" pitchFamily="34" charset="-122"/>
                <a:cs typeface="Arial" pitchFamily="34" charset="-120"/>
              </a:rPr>
              <a:t>Why it matters for RBAC</a:t>
            </a:r>
            <a:endParaRPr lang="en-US" sz="1300" dirty="0"/>
          </a:p>
        </p:txBody>
      </p:sp>
      <p:sp>
        <p:nvSpPr>
          <p:cNvPr id="31" name="Text 22"/>
          <p:cNvSpPr txBox="1"/>
          <p:nvPr/>
        </p:nvSpPr>
        <p:spPr>
          <a:xfrm>
            <a:off x="4846320" y="3383280"/>
            <a:ext cx="3657600" cy="1143000"/>
          </a:xfrm>
          <a:prstGeom prst="rect">
            <a:avLst/>
          </a:prstGeom>
          <a:noFill/>
          <a:ln/>
        </p:spPr>
        <p:txBody>
          <a:bodyPr wrap="square" lIns="0" tIns="0" rIns="0" bIns="0" rtlCol="0" anchor="t"/>
          <a:lstStyle/>
          <a:p>
            <a:pPr algn="l" indent="0" marL="0">
              <a:lnSpc>
                <a:spcPct val="100000"/>
              </a:lnSpc>
              <a:buNone/>
            </a:pPr>
            <a:r>
              <a:rPr lang="en-US" altLang="en-US" sz="1100" dirty="0">
                <a:solidFill>
                  <a:srgbClr val="FFFFFF"/>
                </a:solidFill>
                <a:latin typeface="Arial" pitchFamily="34" charset="0"/>
                <a:ea typeface="Arial" pitchFamily="34" charset="-122"/>
                <a:cs typeface="Arial" pitchFamily="34" charset="-120"/>
              </a:rPr>
              <a:t>One wrong condition can expose data to the wrong user. Tests prove forbidden really means forbidden and catch regressions after every change.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Example API Flows</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7 / 8</a:t>
            </a:r>
            <a:endParaRPr lang="en-US" sz="900" dirty="0"/>
          </a:p>
        </p:txBody>
      </p:sp>
      <p:sp>
        <p:nvSpPr>
          <p:cNvPr id="7" name="Shape 3"/>
          <p:cNvSpPr/>
          <p:nvPr/>
        </p:nvSpPr>
        <p:spPr>
          <a:xfrm>
            <a:off x="457200" y="1170432"/>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Shape 4"/>
          <p:cNvSpPr/>
          <p:nvPr/>
        </p:nvSpPr>
        <p:spPr>
          <a:xfrm>
            <a:off x="621792" y="1289304"/>
            <a:ext cx="384048" cy="384048"/>
          </a:xfrm>
          <a:prstGeom prst="ellipse">
            <a:avLst/>
          </a:prstGeom>
          <a:solidFill>
            <a:srgbClr val="1B9C8C"/>
          </a:solidFill>
          <a:ln w="12700">
            <a:solidFill>
              <a:srgbClr val="1B9C8C"/>
            </a:solidFill>
            <a:prstDash val="solid"/>
          </a:ln>
        </p:spPr>
      </p:sp>
      <p:pic>
        <p:nvPicPr>
          <p:cNvPr id="9" name="Image 1" descr="preencoded.png">    </p:cNvPr>
          <p:cNvPicPr>
            <a:picLocks noChangeAspect="1"/>
          </p:cNvPicPr>
          <p:nvPr/>
        </p:nvPicPr>
        <p:blipFill>
          <a:blip r:embed="rId2"/>
          <a:stretch>
            <a:fillRect/>
          </a:stretch>
        </p:blipFill>
        <p:spPr>
          <a:xfrm>
            <a:off x="717804" y="1385316"/>
            <a:ext cx="192024" cy="192024"/>
          </a:xfrm>
          <a:prstGeom prst="rect">
            <a:avLst/>
          </a:prstGeom>
        </p:spPr>
      </p:pic>
      <p:sp>
        <p:nvSpPr>
          <p:cNvPr id="10" name="Text 5"/>
          <p:cNvSpPr txBox="1"/>
          <p:nvPr/>
        </p:nvSpPr>
        <p:spPr>
          <a:xfrm>
            <a:off x="1115568" y="1289304"/>
            <a:ext cx="3200400" cy="384048"/>
          </a:xfrm>
          <a:prstGeom prst="rect">
            <a:avLst/>
          </a:prstGeom>
          <a:noFill/>
          <a:ln/>
        </p:spPr>
        <p:txBody>
          <a:bodyPr wrap="square" lIns="0" tIns="0" rIns="0" bIns="0" rtlCol="0" anchor="ctr"/>
          <a:lstStyle/>
          <a:p>
            <a:pPr algn="l" indent="0" marL="0">
              <a:lnSpc>
                <a:spcPct val="100000"/>
              </a:lnSpc>
              <a:buNone/>
            </a:pPr>
            <a:r>
              <a:rPr lang="en-US" altLang="en-US" sz="1350" b="1" dirty="0">
                <a:solidFill>
                  <a:srgbClr val="0E2230"/>
                </a:solidFill>
                <a:latin typeface="Arial" pitchFamily="34" charset="0"/>
                <a:ea typeface="Arial" pitchFamily="34" charset="-122"/>
                <a:cs typeface="Arial" pitchFamily="34" charset="-120"/>
              </a:rPr>
              <a:t>1  Register user</a:t>
            </a:r>
            <a:endParaRPr lang="en-US" sz="1350" dirty="0"/>
          </a:p>
        </p:txBody>
      </p:sp>
      <p:sp>
        <p:nvSpPr>
          <p:cNvPr id="11" name="Shape 6"/>
          <p:cNvSpPr/>
          <p:nvPr/>
        </p:nvSpPr>
        <p:spPr>
          <a:xfrm>
            <a:off x="621792" y="1792224"/>
            <a:ext cx="3694176" cy="896112"/>
          </a:xfrm>
          <a:prstGeom prst="roundRect">
            <a:avLst>
              <a:gd name="adj" fmla="val 12245"/>
            </a:avLst>
          </a:prstGeom>
          <a:solidFill>
            <a:srgbClr val="13232E"/>
          </a:solidFill>
          <a:ln w="12700">
            <a:solidFill>
              <a:srgbClr val="13232E"/>
            </a:solidFill>
            <a:prstDash val="solid"/>
          </a:ln>
        </p:spPr>
      </p:sp>
      <p:sp>
        <p:nvSpPr>
          <p:cNvPr id="12" name="Text 7"/>
          <p:cNvSpPr txBox="1"/>
          <p:nvPr/>
        </p:nvSpPr>
        <p:spPr>
          <a:xfrm>
            <a:off x="786384" y="1920240"/>
            <a:ext cx="3364992" cy="640080"/>
          </a:xfrm>
          <a:prstGeom prst="rect">
            <a:avLst/>
          </a:prstGeom>
          <a:noFill/>
          <a:ln/>
        </p:spPr>
        <p:txBody>
          <a:bodyPr wrap="square" lIns="0" tIns="0" rIns="0" bIns="0" rtlCol="0" anchor="t"/>
          <a:lstStyle/>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POST /api/auth/register</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name, email, password, role }</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201 Created</a:t>
            </a:r>
            <a:endParaRPr lang="en-US" sz="1050" dirty="0"/>
          </a:p>
        </p:txBody>
      </p:sp>
      <p:sp>
        <p:nvSpPr>
          <p:cNvPr id="13" name="Shape 8"/>
          <p:cNvSpPr/>
          <p:nvPr/>
        </p:nvSpPr>
        <p:spPr>
          <a:xfrm>
            <a:off x="4663440" y="1170432"/>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4" name="Shape 9"/>
          <p:cNvSpPr/>
          <p:nvPr/>
        </p:nvSpPr>
        <p:spPr>
          <a:xfrm>
            <a:off x="4828032" y="1289304"/>
            <a:ext cx="384048" cy="384048"/>
          </a:xfrm>
          <a:prstGeom prst="ellipse">
            <a:avLst/>
          </a:prstGeom>
          <a:solidFill>
            <a:srgbClr val="1B9C8C"/>
          </a:solidFill>
          <a:ln w="12700">
            <a:solidFill>
              <a:srgbClr val="1B9C8C"/>
            </a:solidFill>
            <a:prstDash val="solid"/>
          </a:ln>
        </p:spPr>
      </p:sp>
      <p:pic>
        <p:nvPicPr>
          <p:cNvPr id="15" name="Image 2" descr="preencoded.png">    </p:cNvPr>
          <p:cNvPicPr>
            <a:picLocks noChangeAspect="1"/>
          </p:cNvPicPr>
          <p:nvPr/>
        </p:nvPicPr>
        <p:blipFill>
          <a:blip r:embed="rId3"/>
          <a:stretch>
            <a:fillRect/>
          </a:stretch>
        </p:blipFill>
        <p:spPr>
          <a:xfrm>
            <a:off x="4924044" y="1385316"/>
            <a:ext cx="192024" cy="192024"/>
          </a:xfrm>
          <a:prstGeom prst="rect">
            <a:avLst/>
          </a:prstGeom>
        </p:spPr>
      </p:pic>
      <p:sp>
        <p:nvSpPr>
          <p:cNvPr id="16" name="Text 10"/>
          <p:cNvSpPr txBox="1"/>
          <p:nvPr/>
        </p:nvSpPr>
        <p:spPr>
          <a:xfrm>
            <a:off x="5321808" y="1289304"/>
            <a:ext cx="3200400" cy="384048"/>
          </a:xfrm>
          <a:prstGeom prst="rect">
            <a:avLst/>
          </a:prstGeom>
          <a:noFill/>
          <a:ln/>
        </p:spPr>
        <p:txBody>
          <a:bodyPr wrap="square" lIns="0" tIns="0" rIns="0" bIns="0" rtlCol="0" anchor="ctr"/>
          <a:lstStyle/>
          <a:p>
            <a:pPr algn="l" indent="0" marL="0">
              <a:lnSpc>
                <a:spcPct val="100000"/>
              </a:lnSpc>
              <a:buNone/>
            </a:pPr>
            <a:r>
              <a:rPr lang="en-US" altLang="en-US" sz="1350" b="1" dirty="0">
                <a:solidFill>
                  <a:srgbClr val="0E2230"/>
                </a:solidFill>
                <a:latin typeface="Arial" pitchFamily="34" charset="0"/>
                <a:ea typeface="Arial" pitchFamily="34" charset="-122"/>
                <a:cs typeface="Arial" pitchFamily="34" charset="-120"/>
              </a:rPr>
              <a:t>2  Login user</a:t>
            </a:r>
            <a:endParaRPr lang="en-US" sz="1350" dirty="0"/>
          </a:p>
        </p:txBody>
      </p:sp>
      <p:sp>
        <p:nvSpPr>
          <p:cNvPr id="17" name="Shape 11"/>
          <p:cNvSpPr/>
          <p:nvPr/>
        </p:nvSpPr>
        <p:spPr>
          <a:xfrm>
            <a:off x="4828032" y="1792224"/>
            <a:ext cx="3694176" cy="896112"/>
          </a:xfrm>
          <a:prstGeom prst="roundRect">
            <a:avLst>
              <a:gd name="adj" fmla="val 12245"/>
            </a:avLst>
          </a:prstGeom>
          <a:solidFill>
            <a:srgbClr val="13232E"/>
          </a:solidFill>
          <a:ln w="12700">
            <a:solidFill>
              <a:srgbClr val="13232E"/>
            </a:solidFill>
            <a:prstDash val="solid"/>
          </a:ln>
        </p:spPr>
      </p:sp>
      <p:sp>
        <p:nvSpPr>
          <p:cNvPr id="18" name="Text 12"/>
          <p:cNvSpPr txBox="1"/>
          <p:nvPr/>
        </p:nvSpPr>
        <p:spPr>
          <a:xfrm>
            <a:off x="4992624" y="1920240"/>
            <a:ext cx="3364992" cy="640080"/>
          </a:xfrm>
          <a:prstGeom prst="rect">
            <a:avLst/>
          </a:prstGeom>
          <a:noFill/>
          <a:ln/>
        </p:spPr>
        <p:txBody>
          <a:bodyPr wrap="square" lIns="0" tIns="0" rIns="0" bIns="0" rtlCol="0" anchor="t"/>
          <a:lstStyle/>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POST /api/auth/login</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 200 OK</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Set-Cookie: token=…; HttpOnly</a:t>
            </a:r>
            <a:endParaRPr lang="en-US" sz="1050" dirty="0"/>
          </a:p>
        </p:txBody>
      </p:sp>
      <p:sp>
        <p:nvSpPr>
          <p:cNvPr id="19" name="Shape 13"/>
          <p:cNvSpPr/>
          <p:nvPr/>
        </p:nvSpPr>
        <p:spPr>
          <a:xfrm>
            <a:off x="457200" y="2953512"/>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0" name="Shape 14"/>
          <p:cNvSpPr/>
          <p:nvPr/>
        </p:nvSpPr>
        <p:spPr>
          <a:xfrm>
            <a:off x="621792" y="3072384"/>
            <a:ext cx="384048" cy="384048"/>
          </a:xfrm>
          <a:prstGeom prst="ellipse">
            <a:avLst/>
          </a:prstGeom>
          <a:solidFill>
            <a:srgbClr val="137366"/>
          </a:solidFill>
          <a:ln w="12700">
            <a:solidFill>
              <a:srgbClr val="137366"/>
            </a:solidFill>
            <a:prstDash val="solid"/>
          </a:ln>
        </p:spPr>
      </p:sp>
      <p:pic>
        <p:nvPicPr>
          <p:cNvPr id="21" name="Image 3" descr="preencoded.png">    </p:cNvPr>
          <p:cNvPicPr>
            <a:picLocks noChangeAspect="1"/>
          </p:cNvPicPr>
          <p:nvPr/>
        </p:nvPicPr>
        <p:blipFill>
          <a:blip r:embed="rId4"/>
          <a:stretch>
            <a:fillRect/>
          </a:stretch>
        </p:blipFill>
        <p:spPr>
          <a:xfrm>
            <a:off x="717804" y="3168396"/>
            <a:ext cx="192024" cy="192024"/>
          </a:xfrm>
          <a:prstGeom prst="rect">
            <a:avLst/>
          </a:prstGeom>
        </p:spPr>
      </p:pic>
      <p:sp>
        <p:nvSpPr>
          <p:cNvPr id="22" name="Text 15"/>
          <p:cNvSpPr txBox="1"/>
          <p:nvPr/>
        </p:nvSpPr>
        <p:spPr>
          <a:xfrm>
            <a:off x="1115568" y="3072384"/>
            <a:ext cx="3200400" cy="384048"/>
          </a:xfrm>
          <a:prstGeom prst="rect">
            <a:avLst/>
          </a:prstGeom>
          <a:noFill/>
          <a:ln/>
        </p:spPr>
        <p:txBody>
          <a:bodyPr wrap="square" lIns="0" tIns="0" rIns="0" bIns="0" rtlCol="0" anchor="ctr"/>
          <a:lstStyle/>
          <a:p>
            <a:pPr algn="l" indent="0" marL="0">
              <a:lnSpc>
                <a:spcPct val="100000"/>
              </a:lnSpc>
              <a:buNone/>
            </a:pPr>
            <a:r>
              <a:rPr lang="en-US" altLang="en-US" sz="1350" b="1" dirty="0">
                <a:solidFill>
                  <a:srgbClr val="0E2230"/>
                </a:solidFill>
                <a:latin typeface="Arial" pitchFamily="34" charset="0"/>
                <a:ea typeface="Arial" pitchFamily="34" charset="-122"/>
                <a:cs typeface="Arial" pitchFamily="34" charset="-120"/>
              </a:rPr>
              <a:t>3  Get projects (by role)</a:t>
            </a:r>
            <a:endParaRPr lang="en-US" sz="1350" dirty="0"/>
          </a:p>
        </p:txBody>
      </p:sp>
      <p:sp>
        <p:nvSpPr>
          <p:cNvPr id="23" name="Shape 16"/>
          <p:cNvSpPr/>
          <p:nvPr/>
        </p:nvSpPr>
        <p:spPr>
          <a:xfrm>
            <a:off x="621792" y="3575304"/>
            <a:ext cx="3694176" cy="896112"/>
          </a:xfrm>
          <a:prstGeom prst="roundRect">
            <a:avLst>
              <a:gd name="adj" fmla="val 12245"/>
            </a:avLst>
          </a:prstGeom>
          <a:solidFill>
            <a:srgbClr val="13232E"/>
          </a:solidFill>
          <a:ln w="12700">
            <a:solidFill>
              <a:srgbClr val="13232E"/>
            </a:solidFill>
            <a:prstDash val="solid"/>
          </a:ln>
        </p:spPr>
      </p:sp>
      <p:sp>
        <p:nvSpPr>
          <p:cNvPr id="24" name="Text 17"/>
          <p:cNvSpPr txBox="1"/>
          <p:nvPr/>
        </p:nvSpPr>
        <p:spPr>
          <a:xfrm>
            <a:off x="786384" y="3703320"/>
            <a:ext cx="3364992" cy="640080"/>
          </a:xfrm>
          <a:prstGeom prst="rect">
            <a:avLst/>
          </a:prstGeom>
          <a:noFill/>
          <a:ln/>
        </p:spPr>
        <p:txBody>
          <a:bodyPr wrap="square" lIns="0" tIns="0" rIns="0" bIns="0" rtlCol="0" anchor="t"/>
          <a:lstStyle/>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GET /api/projects</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Admin → all | Manager → dept</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Viewer → assigned only</a:t>
            </a:r>
            <a:endParaRPr lang="en-US" sz="1050" dirty="0"/>
          </a:p>
        </p:txBody>
      </p:sp>
      <p:sp>
        <p:nvSpPr>
          <p:cNvPr id="25" name="Shape 18"/>
          <p:cNvSpPr/>
          <p:nvPr/>
        </p:nvSpPr>
        <p:spPr>
          <a:xfrm>
            <a:off x="4663440" y="2953512"/>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6" name="Shape 19"/>
          <p:cNvSpPr/>
          <p:nvPr/>
        </p:nvSpPr>
        <p:spPr>
          <a:xfrm>
            <a:off x="4828032" y="3072384"/>
            <a:ext cx="384048" cy="384048"/>
          </a:xfrm>
          <a:prstGeom prst="ellipse">
            <a:avLst/>
          </a:prstGeom>
          <a:solidFill>
            <a:srgbClr val="C8553D"/>
          </a:solidFill>
          <a:ln w="12700">
            <a:solidFill>
              <a:srgbClr val="C8553D"/>
            </a:solidFill>
            <a:prstDash val="solid"/>
          </a:ln>
        </p:spPr>
      </p:sp>
      <p:pic>
        <p:nvPicPr>
          <p:cNvPr id="27" name="Image 4" descr="preencoded.png">    </p:cNvPr>
          <p:cNvPicPr>
            <a:picLocks noChangeAspect="1"/>
          </p:cNvPicPr>
          <p:nvPr/>
        </p:nvPicPr>
        <p:blipFill>
          <a:blip r:embed="rId5"/>
          <a:stretch>
            <a:fillRect/>
          </a:stretch>
        </p:blipFill>
        <p:spPr>
          <a:xfrm>
            <a:off x="4924044" y="3168396"/>
            <a:ext cx="192024" cy="192024"/>
          </a:xfrm>
          <a:prstGeom prst="rect">
            <a:avLst/>
          </a:prstGeom>
        </p:spPr>
      </p:pic>
      <p:sp>
        <p:nvSpPr>
          <p:cNvPr id="28" name="Text 20"/>
          <p:cNvSpPr txBox="1"/>
          <p:nvPr/>
        </p:nvSpPr>
        <p:spPr>
          <a:xfrm>
            <a:off x="5321808" y="3072384"/>
            <a:ext cx="3200400" cy="384048"/>
          </a:xfrm>
          <a:prstGeom prst="rect">
            <a:avLst/>
          </a:prstGeom>
          <a:noFill/>
          <a:ln/>
        </p:spPr>
        <p:txBody>
          <a:bodyPr wrap="square" lIns="0" tIns="0" rIns="0" bIns="0" rtlCol="0" anchor="ctr"/>
          <a:lstStyle/>
          <a:p>
            <a:pPr algn="l" indent="0" marL="0">
              <a:lnSpc>
                <a:spcPct val="100000"/>
              </a:lnSpc>
              <a:buNone/>
            </a:pPr>
            <a:r>
              <a:rPr lang="en-US" altLang="en-US" sz="1350" b="1" dirty="0">
                <a:solidFill>
                  <a:srgbClr val="0E2230"/>
                </a:solidFill>
                <a:latin typeface="Arial" pitchFamily="34" charset="0"/>
                <a:ea typeface="Arial" pitchFamily="34" charset="-122"/>
                <a:cs typeface="Arial" pitchFamily="34" charset="-120"/>
              </a:rPr>
              <a:t>4  Access denied</a:t>
            </a:r>
            <a:endParaRPr lang="en-US" sz="1350" dirty="0"/>
          </a:p>
        </p:txBody>
      </p:sp>
      <p:sp>
        <p:nvSpPr>
          <p:cNvPr id="29" name="Shape 21"/>
          <p:cNvSpPr/>
          <p:nvPr/>
        </p:nvSpPr>
        <p:spPr>
          <a:xfrm>
            <a:off x="4828032" y="3575304"/>
            <a:ext cx="3694176" cy="896112"/>
          </a:xfrm>
          <a:prstGeom prst="roundRect">
            <a:avLst>
              <a:gd name="adj" fmla="val 12245"/>
            </a:avLst>
          </a:prstGeom>
          <a:solidFill>
            <a:srgbClr val="13232E"/>
          </a:solidFill>
          <a:ln w="12700">
            <a:solidFill>
              <a:srgbClr val="13232E"/>
            </a:solidFill>
            <a:prstDash val="solid"/>
          </a:ln>
        </p:spPr>
      </p:sp>
      <p:sp>
        <p:nvSpPr>
          <p:cNvPr id="30" name="Text 22"/>
          <p:cNvSpPr txBox="1"/>
          <p:nvPr/>
        </p:nvSpPr>
        <p:spPr>
          <a:xfrm>
            <a:off x="4992624" y="3703320"/>
            <a:ext cx="3364992" cy="640080"/>
          </a:xfrm>
          <a:prstGeom prst="rect">
            <a:avLst/>
          </a:prstGeom>
          <a:noFill/>
          <a:ln/>
        </p:spPr>
        <p:txBody>
          <a:bodyPr wrap="square" lIns="0" tIns="0" rIns="0" bIns="0" rtlCol="0" anchor="t"/>
          <a:lstStyle/>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No cookie  → 401</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Bad token  → 401</a:t>
            </a:r>
            <a:endParaRPr lang="en-US" sz="1050" dirty="0"/>
          </a:p>
          <a:p>
            <a:pPr algn="l" indent="0" marL="0">
              <a:buNone/>
            </a:pPr>
            <a:r>
              <a:rPr lang="en-US" altLang="en-US" sz="1050" dirty="0">
                <a:solidFill>
                  <a:srgbClr val="E4ECEF"/>
                </a:solidFill>
                <a:latin typeface="Courier New" pitchFamily="34" charset="0"/>
                <a:ea typeface="Courier New" pitchFamily="34" charset="-122"/>
                <a:cs typeface="Courier New" pitchFamily="34" charset="-120"/>
              </a:rPr>
              <a:t>Viewer DELETE /projects/:id → 403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7"/>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1B9C8C"/>
          </a:solidFill>
          <a:ln w="12700">
            <a:solidFill>
              <a:srgbClr val="1B9C8C"/>
            </a:solidFill>
            <a:prstDash val="solid"/>
          </a:ln>
        </p:spPr>
      </p:sp>
      <p:pic>
        <p:nvPicPr>
          <p:cNvPr id="3" name="Image 0" descr="preencoded.png">    </p:cNvPr>
          <p:cNvPicPr>
            <a:picLocks noChangeAspect="1"/>
          </p:cNvPicPr>
          <p:nvPr/>
        </p:nvPicPr>
        <p:blipFill>
          <a:blip r:embed="rId1"/>
          <a:stretch>
            <a:fillRect/>
          </a:stretch>
        </p:blipFill>
        <p:spPr>
          <a:xfrm>
            <a:off x="598932" y="470916"/>
            <a:ext cx="283464" cy="283464"/>
          </a:xfrm>
          <a:prstGeom prst="rect">
            <a:avLst/>
          </a:prstGeom>
        </p:spPr>
      </p:pic>
      <p:sp>
        <p:nvSpPr>
          <p:cNvPr id="4" name="Text 1"/>
          <p:cNvSpPr txBox="1"/>
          <p:nvPr/>
        </p:nvSpPr>
        <p:spPr>
          <a:xfrm>
            <a:off x="1188720" y="329184"/>
            <a:ext cx="7498080" cy="566928"/>
          </a:xfrm>
          <a:prstGeom prst="rect">
            <a:avLst/>
          </a:prstGeom>
          <a:noFill/>
          <a:ln/>
        </p:spPr>
        <p:txBody>
          <a:bodyPr wrap="square" lIns="0" tIns="0" rIns="0" bIns="0" rtlCol="0" anchor="ctr"/>
          <a:lstStyle/>
          <a:p>
            <a:pPr algn="l" indent="0" marL="0">
              <a:lnSpc>
                <a:spcPct val="100000"/>
              </a:lnSpc>
              <a:buNone/>
            </a:pPr>
            <a:r>
              <a:rPr lang="en-US" altLang="en-US" sz="2800" b="1" dirty="0">
                <a:solidFill>
                  <a:srgbClr val="0E2230"/>
                </a:solidFill>
                <a:latin typeface="Arial" pitchFamily="34" charset="0"/>
                <a:ea typeface="Arial" pitchFamily="34" charset="-122"/>
                <a:cs typeface="Arial" pitchFamily="34" charset="-120"/>
              </a:rPr>
              <a:t>Challenges &amp; Final Outcome</a:t>
            </a:r>
            <a:endParaRPr lang="en-US" sz="2800" dirty="0"/>
          </a:p>
        </p:txBody>
      </p:sp>
      <p:sp>
        <p:nvSpPr>
          <p:cNvPr id="5" name="Text 2"/>
          <p:cNvSpPr txBox="1"/>
          <p:nvPr/>
        </p:nvSpPr>
        <p:spPr>
          <a:xfrm>
            <a:off x="7772400" y="4828032"/>
            <a:ext cx="914400" cy="201168"/>
          </a:xfrm>
          <a:prstGeom prst="rect">
            <a:avLst/>
          </a:prstGeom>
          <a:noFill/>
          <a:ln/>
        </p:spPr>
        <p:txBody>
          <a:bodyPr wrap="square" lIns="0" tIns="0" rIns="0" bIns="0" rtlCol="0" anchor="t"/>
          <a:lstStyle/>
          <a:p>
            <a:pPr algn="r" indent="0" marL="0">
              <a:lnSpc>
                <a:spcPct val="100000"/>
              </a:lnSpc>
              <a:buNone/>
            </a:pPr>
            <a:r>
              <a:rPr lang="en-US" altLang="en-US" sz="900" dirty="0">
                <a:solidFill>
                  <a:srgbClr val="5B6C77"/>
                </a:solidFill>
                <a:latin typeface="Arial" pitchFamily="34" charset="0"/>
                <a:ea typeface="Arial" pitchFamily="34" charset="-122"/>
                <a:cs typeface="Arial" pitchFamily="34" charset="-120"/>
              </a:rPr>
              <a:t>8 / 8</a:t>
            </a:r>
            <a:endParaRPr lang="en-US" sz="900" dirty="0"/>
          </a:p>
        </p:txBody>
      </p:sp>
      <p:sp>
        <p:nvSpPr>
          <p:cNvPr id="7" name="Shape 3"/>
          <p:cNvSpPr/>
          <p:nvPr/>
        </p:nvSpPr>
        <p:spPr>
          <a:xfrm>
            <a:off x="457200" y="1170432"/>
            <a:ext cx="5029200" cy="768096"/>
          </a:xfrm>
          <a:prstGeom prst="roundRect">
            <a:avLst>
              <a:gd name="adj" fmla="val 1190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8" name="Shape 4"/>
          <p:cNvSpPr/>
          <p:nvPr/>
        </p:nvSpPr>
        <p:spPr>
          <a:xfrm>
            <a:off x="594360" y="1353312"/>
            <a:ext cx="402336" cy="402336"/>
          </a:xfrm>
          <a:prstGeom prst="ellipse">
            <a:avLst/>
          </a:prstGeom>
          <a:solidFill>
            <a:srgbClr val="1B9C8C"/>
          </a:solidFill>
          <a:ln w="12700">
            <a:solidFill>
              <a:srgbClr val="1B9C8C"/>
            </a:solidFill>
            <a:prstDash val="solid"/>
          </a:ln>
        </p:spPr>
      </p:sp>
      <p:pic>
        <p:nvPicPr>
          <p:cNvPr id="9" name="Image 1" descr="preencoded.png">    </p:cNvPr>
          <p:cNvPicPr>
            <a:picLocks noChangeAspect="1"/>
          </p:cNvPicPr>
          <p:nvPr/>
        </p:nvPicPr>
        <p:blipFill>
          <a:blip r:embed="rId2"/>
          <a:stretch>
            <a:fillRect/>
          </a:stretch>
        </p:blipFill>
        <p:spPr>
          <a:xfrm>
            <a:off x="694944" y="1453896"/>
            <a:ext cx="201168" cy="201168"/>
          </a:xfrm>
          <a:prstGeom prst="rect">
            <a:avLst/>
          </a:prstGeom>
        </p:spPr>
      </p:pic>
      <p:sp>
        <p:nvSpPr>
          <p:cNvPr id="10" name="Text 5"/>
          <p:cNvSpPr txBox="1"/>
          <p:nvPr/>
        </p:nvSpPr>
        <p:spPr>
          <a:xfrm>
            <a:off x="1143000" y="1261872"/>
            <a:ext cx="4206240" cy="274320"/>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Role matching issues</a:t>
            </a:r>
            <a:endParaRPr lang="en-US" sz="1300" dirty="0"/>
          </a:p>
        </p:txBody>
      </p:sp>
      <p:sp>
        <p:nvSpPr>
          <p:cNvPr id="11" name="Text 6"/>
          <p:cNvSpPr txBox="1"/>
          <p:nvPr/>
        </p:nvSpPr>
        <p:spPr>
          <a:xfrm>
            <a:off x="1143000" y="1572768"/>
            <a:ext cx="4206240" cy="274320"/>
          </a:xfrm>
          <a:prstGeom prst="rect">
            <a:avLst/>
          </a:prstGeom>
          <a:noFill/>
          <a:ln/>
        </p:spPr>
        <p:txBody>
          <a:bodyPr wrap="square" lIns="0" tIns="0" rIns="0" bIns="0" rtlCol="0" anchor="t"/>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Defined once in the RBAC service, reused everywhere</a:t>
            </a:r>
            <a:endParaRPr lang="en-US" sz="1100" dirty="0"/>
          </a:p>
        </p:txBody>
      </p:sp>
      <p:sp>
        <p:nvSpPr>
          <p:cNvPr id="12" name="Shape 7"/>
          <p:cNvSpPr/>
          <p:nvPr/>
        </p:nvSpPr>
        <p:spPr>
          <a:xfrm>
            <a:off x="457200" y="2029968"/>
            <a:ext cx="5029200" cy="768096"/>
          </a:xfrm>
          <a:prstGeom prst="roundRect">
            <a:avLst>
              <a:gd name="adj" fmla="val 1190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3" name="Shape 8"/>
          <p:cNvSpPr/>
          <p:nvPr/>
        </p:nvSpPr>
        <p:spPr>
          <a:xfrm>
            <a:off x="594360" y="2212848"/>
            <a:ext cx="402336" cy="402336"/>
          </a:xfrm>
          <a:prstGeom prst="ellipse">
            <a:avLst/>
          </a:prstGeom>
          <a:solidFill>
            <a:srgbClr val="1B9C8C"/>
          </a:solidFill>
          <a:ln w="12700">
            <a:solidFill>
              <a:srgbClr val="1B9C8C"/>
            </a:solidFill>
            <a:prstDash val="solid"/>
          </a:ln>
        </p:spPr>
      </p:sp>
      <p:pic>
        <p:nvPicPr>
          <p:cNvPr id="14" name="Image 2" descr="preencoded.png">    </p:cNvPr>
          <p:cNvPicPr>
            <a:picLocks noChangeAspect="1"/>
          </p:cNvPicPr>
          <p:nvPr/>
        </p:nvPicPr>
        <p:blipFill>
          <a:blip r:embed="rId3"/>
          <a:stretch>
            <a:fillRect/>
          </a:stretch>
        </p:blipFill>
        <p:spPr>
          <a:xfrm>
            <a:off x="694944" y="2313432"/>
            <a:ext cx="201168" cy="201168"/>
          </a:xfrm>
          <a:prstGeom prst="rect">
            <a:avLst/>
          </a:prstGeom>
        </p:spPr>
      </p:pic>
      <p:sp>
        <p:nvSpPr>
          <p:cNvPr id="15" name="Text 9"/>
          <p:cNvSpPr txBox="1"/>
          <p:nvPr/>
        </p:nvSpPr>
        <p:spPr>
          <a:xfrm>
            <a:off x="1143000" y="2121408"/>
            <a:ext cx="4206240" cy="274320"/>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Case sensitivity</a:t>
            </a:r>
            <a:endParaRPr lang="en-US" sz="1300" dirty="0"/>
          </a:p>
        </p:txBody>
      </p:sp>
      <p:sp>
        <p:nvSpPr>
          <p:cNvPr id="16" name="Text 10"/>
          <p:cNvSpPr txBox="1"/>
          <p:nvPr/>
        </p:nvSpPr>
        <p:spPr>
          <a:xfrm>
            <a:off x="1143000" y="2432304"/>
            <a:ext cx="4206240" cy="274320"/>
          </a:xfrm>
          <a:prstGeom prst="rect">
            <a:avLst/>
          </a:prstGeom>
          <a:noFill/>
          <a:ln/>
        </p:spPr>
        <p:txBody>
          <a:bodyPr wrap="square" lIns="0" tIns="0" rIns="0" bIns="0" rtlCol="0" anchor="t"/>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Normalize to lowercase when saving and comparing</a:t>
            </a:r>
            <a:endParaRPr lang="en-US" sz="1100" dirty="0"/>
          </a:p>
        </p:txBody>
      </p:sp>
      <p:sp>
        <p:nvSpPr>
          <p:cNvPr id="17" name="Shape 11"/>
          <p:cNvSpPr/>
          <p:nvPr/>
        </p:nvSpPr>
        <p:spPr>
          <a:xfrm>
            <a:off x="457200" y="2889504"/>
            <a:ext cx="5029200" cy="768096"/>
          </a:xfrm>
          <a:prstGeom prst="roundRect">
            <a:avLst>
              <a:gd name="adj" fmla="val 1190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18" name="Shape 12"/>
          <p:cNvSpPr/>
          <p:nvPr/>
        </p:nvSpPr>
        <p:spPr>
          <a:xfrm>
            <a:off x="594360" y="3072384"/>
            <a:ext cx="402336" cy="402336"/>
          </a:xfrm>
          <a:prstGeom prst="ellipse">
            <a:avLst/>
          </a:prstGeom>
          <a:solidFill>
            <a:srgbClr val="1B9C8C"/>
          </a:solidFill>
          <a:ln w="12700">
            <a:solidFill>
              <a:srgbClr val="1B9C8C"/>
            </a:solidFill>
            <a:prstDash val="solid"/>
          </a:ln>
        </p:spPr>
      </p:sp>
      <p:pic>
        <p:nvPicPr>
          <p:cNvPr id="19" name="Image 3" descr="preencoded.png">    </p:cNvPr>
          <p:cNvPicPr>
            <a:picLocks noChangeAspect="1"/>
          </p:cNvPicPr>
          <p:nvPr/>
        </p:nvPicPr>
        <p:blipFill>
          <a:blip r:embed="rId4"/>
          <a:stretch>
            <a:fillRect/>
          </a:stretch>
        </p:blipFill>
        <p:spPr>
          <a:xfrm>
            <a:off x="694944" y="3172968"/>
            <a:ext cx="201168" cy="201168"/>
          </a:xfrm>
          <a:prstGeom prst="rect">
            <a:avLst/>
          </a:prstGeom>
        </p:spPr>
      </p:pic>
      <p:sp>
        <p:nvSpPr>
          <p:cNvPr id="20" name="Text 13"/>
          <p:cNvSpPr txBox="1"/>
          <p:nvPr/>
        </p:nvSpPr>
        <p:spPr>
          <a:xfrm>
            <a:off x="1143000" y="2980944"/>
            <a:ext cx="4206240" cy="274320"/>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JWT secret handling</a:t>
            </a:r>
            <a:endParaRPr lang="en-US" sz="1300" dirty="0"/>
          </a:p>
        </p:txBody>
      </p:sp>
      <p:sp>
        <p:nvSpPr>
          <p:cNvPr id="21" name="Text 14"/>
          <p:cNvSpPr txBox="1"/>
          <p:nvPr/>
        </p:nvSpPr>
        <p:spPr>
          <a:xfrm>
            <a:off x="1143000" y="3291840"/>
            <a:ext cx="4206240" cy="274320"/>
          </a:xfrm>
          <a:prstGeom prst="rect">
            <a:avLst/>
          </a:prstGeom>
          <a:noFill/>
          <a:ln/>
        </p:spPr>
        <p:txBody>
          <a:bodyPr wrap="square" lIns="0" tIns="0" rIns="0" bIns="0" rtlCol="0" anchor="t"/>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Load from env file, fail fast if missing</a:t>
            </a:r>
            <a:endParaRPr lang="en-US" sz="1100" dirty="0"/>
          </a:p>
        </p:txBody>
      </p:sp>
      <p:sp>
        <p:nvSpPr>
          <p:cNvPr id="22" name="Shape 15"/>
          <p:cNvSpPr/>
          <p:nvPr/>
        </p:nvSpPr>
        <p:spPr>
          <a:xfrm>
            <a:off x="457200" y="3749040"/>
            <a:ext cx="5029200" cy="768096"/>
          </a:xfrm>
          <a:prstGeom prst="roundRect">
            <a:avLst>
              <a:gd name="adj" fmla="val 11905"/>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sp>
        <p:nvSpPr>
          <p:cNvPr id="23" name="Shape 16"/>
          <p:cNvSpPr/>
          <p:nvPr/>
        </p:nvSpPr>
        <p:spPr>
          <a:xfrm>
            <a:off x="594360" y="3931920"/>
            <a:ext cx="402336" cy="402336"/>
          </a:xfrm>
          <a:prstGeom prst="ellipse">
            <a:avLst/>
          </a:prstGeom>
          <a:solidFill>
            <a:srgbClr val="1B9C8C"/>
          </a:solidFill>
          <a:ln w="12700">
            <a:solidFill>
              <a:srgbClr val="1B9C8C"/>
            </a:solidFill>
            <a:prstDash val="solid"/>
          </a:ln>
        </p:spPr>
      </p:sp>
      <p:pic>
        <p:nvPicPr>
          <p:cNvPr id="24" name="Image 4" descr="preencoded.png">    </p:cNvPr>
          <p:cNvPicPr>
            <a:picLocks noChangeAspect="1"/>
          </p:cNvPicPr>
          <p:nvPr/>
        </p:nvPicPr>
        <p:blipFill>
          <a:blip r:embed="rId5"/>
          <a:stretch>
            <a:fillRect/>
          </a:stretch>
        </p:blipFill>
        <p:spPr>
          <a:xfrm>
            <a:off x="694944" y="4032504"/>
            <a:ext cx="201168" cy="201168"/>
          </a:xfrm>
          <a:prstGeom prst="rect">
            <a:avLst/>
          </a:prstGeom>
        </p:spPr>
      </p:pic>
      <p:sp>
        <p:nvSpPr>
          <p:cNvPr id="25" name="Text 17"/>
          <p:cNvSpPr txBox="1"/>
          <p:nvPr/>
        </p:nvSpPr>
        <p:spPr>
          <a:xfrm>
            <a:off x="1143000" y="3840480"/>
            <a:ext cx="4206240" cy="274320"/>
          </a:xfrm>
          <a:prstGeom prst="rect">
            <a:avLst/>
          </a:prstGeom>
          <a:noFill/>
          <a:ln/>
        </p:spPr>
        <p:txBody>
          <a:bodyPr wrap="square" lIns="0" tIns="0" rIns="0" bIns="0" rtlCol="0" anchor="t"/>
          <a:lstStyle/>
          <a:p>
            <a:pPr algn="l" indent="0" marL="0">
              <a:lnSpc>
                <a:spcPct val="100000"/>
              </a:lnSpc>
              <a:buNone/>
            </a:pPr>
            <a:r>
              <a:rPr lang="en-US" altLang="en-US" sz="1300" b="1" dirty="0">
                <a:solidFill>
                  <a:srgbClr val="0E2230"/>
                </a:solidFill>
                <a:latin typeface="Arial" pitchFamily="34" charset="0"/>
                <a:ea typeface="Arial" pitchFamily="34" charset="-122"/>
                <a:cs typeface="Arial" pitchFamily="34" charset="-120"/>
              </a:rPr>
              <a:t>Permission matching logic</a:t>
            </a:r>
            <a:endParaRPr lang="en-US" sz="1300" dirty="0"/>
          </a:p>
        </p:txBody>
      </p:sp>
      <p:sp>
        <p:nvSpPr>
          <p:cNvPr id="26" name="Text 18"/>
          <p:cNvSpPr txBox="1"/>
          <p:nvPr/>
        </p:nvSpPr>
        <p:spPr>
          <a:xfrm>
            <a:off x="1143000" y="4151376"/>
            <a:ext cx="4206240" cy="274320"/>
          </a:xfrm>
          <a:prstGeom prst="rect">
            <a:avLst/>
          </a:prstGeom>
          <a:noFill/>
          <a:ln/>
        </p:spPr>
        <p:txBody>
          <a:bodyPr wrap="square" lIns="0" tIns="0" rIns="0" bIns="0" rtlCol="0" anchor="t"/>
          <a:lstStyle/>
          <a:p>
            <a:pPr algn="l" indent="0" marL="0">
              <a:lnSpc>
                <a:spcPct val="100000"/>
              </a:lnSpc>
              <a:buNone/>
            </a:pPr>
            <a:r>
              <a:rPr lang="en-US" altLang="en-US" sz="1100" dirty="0">
                <a:solidFill>
                  <a:srgbClr val="5B6C77"/>
                </a:solidFill>
                <a:latin typeface="Arial" pitchFamily="34" charset="0"/>
                <a:ea typeface="Arial" pitchFamily="34" charset="-122"/>
                <a:cs typeface="Arial" pitchFamily="34" charset="-120"/>
              </a:rPr>
              <a:t>One central matching function in the RBAC service</a:t>
            </a:r>
            <a:endParaRPr lang="en-US" sz="1100" dirty="0"/>
          </a:p>
        </p:txBody>
      </p:sp>
      <p:sp>
        <p:nvSpPr>
          <p:cNvPr id="27" name="Shape 19"/>
          <p:cNvSpPr/>
          <p:nvPr/>
        </p:nvSpPr>
        <p:spPr>
          <a:xfrm>
            <a:off x="5669280" y="1170432"/>
            <a:ext cx="3017520" cy="3346704"/>
          </a:xfrm>
          <a:prstGeom prst="roundRect">
            <a:avLst>
              <a:gd name="adj" fmla="val 3030"/>
            </a:avLst>
          </a:prstGeom>
          <a:solidFill>
            <a:srgbClr val="0E2230"/>
          </a:solidFill>
          <a:ln w="12700">
            <a:solidFill>
              <a:srgbClr val="0E2230"/>
            </a:solidFill>
            <a:prstDash val="solid"/>
          </a:ln>
        </p:spPr>
      </p:sp>
      <p:sp>
        <p:nvSpPr>
          <p:cNvPr id="28" name="Text 20"/>
          <p:cNvSpPr txBox="1"/>
          <p:nvPr/>
        </p:nvSpPr>
        <p:spPr>
          <a:xfrm>
            <a:off x="5852160" y="1298448"/>
            <a:ext cx="2651760" cy="292608"/>
          </a:xfrm>
          <a:prstGeom prst="rect">
            <a:avLst/>
          </a:prstGeom>
          <a:noFill/>
          <a:ln/>
        </p:spPr>
        <p:txBody>
          <a:bodyPr wrap="square" lIns="0" tIns="0" rIns="0" bIns="0" rtlCol="0" anchor="t"/>
          <a:lstStyle/>
          <a:p>
            <a:pPr algn="l" indent="0" marL="0">
              <a:lnSpc>
                <a:spcPct val="100000"/>
              </a:lnSpc>
              <a:buNone/>
            </a:pPr>
            <a:r>
              <a:rPr lang="en-US" altLang="en-US" sz="1500" b="1" dirty="0">
                <a:solidFill>
                  <a:srgbClr val="F2A93B"/>
                </a:solidFill>
                <a:latin typeface="Arial" pitchFamily="34" charset="0"/>
                <a:ea typeface="Arial" pitchFamily="34" charset="-122"/>
                <a:cs typeface="Arial" pitchFamily="34" charset="-120"/>
              </a:rPr>
              <a:t>Final outcome</a:t>
            </a:r>
            <a:endParaRPr lang="en-US" sz="1500" dirty="0"/>
          </a:p>
        </p:txBody>
      </p:sp>
      <p:sp>
        <p:nvSpPr>
          <p:cNvPr id="29" name="Text 21"/>
          <p:cNvSpPr txBox="1"/>
          <p:nvPr/>
        </p:nvSpPr>
        <p:spPr>
          <a:xfrm>
            <a:off x="5852160" y="1691640"/>
            <a:ext cx="2651760" cy="2194560"/>
          </a:xfrm>
          <a:prstGeom prst="rect">
            <a:avLst/>
          </a:prstGeom>
          <a:noFill/>
          <a:ln/>
        </p:spPr>
        <p:txBody>
          <a:bodyPr wrap="square" lIns="0" tIns="0" rIns="0" bIns="0" rtlCol="0" anchor="t"/>
          <a:lstStyle/>
          <a:p>
            <a:pPr algn="l" indent="0" marL="0">
              <a:lnSpc>
                <a:spcPct val="110000"/>
              </a:lnSpc>
              <a:buNone/>
            </a:pPr>
            <a:r>
              <a:rPr lang="en-US" altLang="en-US" sz="1050" dirty="0">
                <a:solidFill>
                  <a:srgbClr val="FFFFFF"/>
                </a:solidFill>
                <a:latin typeface="Arial" pitchFamily="34" charset="0"/>
                <a:ea typeface="Arial" pitchFamily="34" charset="-122"/>
                <a:cs typeface="Arial" pitchFamily="34" charset="-120"/>
              </a:rPr>
              <a:t>We built a secure Sandbox API with role-based access control: JWT identity in a secure cookie, role checks in middleware, and a query filter so Admin sees everything, Manager their department, and Viewer only assigned projects. Every failure returns a clear status, and Jest + Supertest verify it all. A solid, extensible foundation for the rest of the project.</a:t>
            </a:r>
            <a:endParaRPr lang="en-US" sz="1050" dirty="0"/>
          </a:p>
        </p:txBody>
      </p:sp>
      <p:sp>
        <p:nvSpPr>
          <p:cNvPr id="30" name="Text 22"/>
          <p:cNvSpPr txBox="1"/>
          <p:nvPr/>
        </p:nvSpPr>
        <p:spPr>
          <a:xfrm>
            <a:off x="5852160" y="4023360"/>
            <a:ext cx="2651760" cy="365760"/>
          </a:xfrm>
          <a:prstGeom prst="rect">
            <a:avLst/>
          </a:prstGeom>
          <a:noFill/>
          <a:ln/>
        </p:spPr>
        <p:txBody>
          <a:bodyPr wrap="square" lIns="0" tIns="0" rIns="0" bIns="0" rtlCol="0" anchor="ctr"/>
          <a:lstStyle/>
          <a:p>
            <a:pPr algn="l" indent="0" marL="0">
              <a:lnSpc>
                <a:spcPct val="100000"/>
              </a:lnSpc>
              <a:buNone/>
            </a:pPr>
            <a:r>
              <a:rPr lang="en-US" altLang="en-US" sz="1400" b="1" dirty="0">
                <a:solidFill>
                  <a:srgbClr val="F2A93B"/>
                </a:solidFill>
                <a:latin typeface="Arial" pitchFamily="34" charset="0"/>
                <a:ea typeface="Arial" pitchFamily="34" charset="-122"/>
                <a:cs typeface="Arial"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Sandbox API with RBAC - Task 1</dc:title>
  <dc:subject>PptxGenJS Presentation</dc:subject>
  <dc:creator>PptxGenJS</dc:creator>
  <cp:lastModifiedBy>PptxGenJS</cp:lastModifiedBy>
  <cp:revision>1</cp:revision>
  <dcterms:created xsi:type="dcterms:W3CDTF">2026-09-20T21:25:58Z</dcterms:created>
  <dcterms:modified xsi:type="dcterms:W3CDTF">2026-09-20T21:25:58Z</dcterms:modified>
</cp:coreProperties>
</file>